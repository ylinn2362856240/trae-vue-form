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5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3"/>
  </p:sldMasterIdLst>
  <p:notesMasterIdLst>
    <p:notesMasterId r:id="rId5"/>
  </p:notesMasterIdLst>
  <p:handoutMasterIdLst>
    <p:handoutMasterId r:id="rId27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AA1"/>
    <a:srgbClr val="0053B5"/>
    <a:srgbClr val="004B9F"/>
    <a:srgbClr val="08112D"/>
    <a:srgbClr val="06438B"/>
    <a:srgbClr val="063E89"/>
    <a:srgbClr val="0058C7"/>
    <a:srgbClr val="0051B2"/>
    <a:srgbClr val="00479E"/>
    <a:srgbClr val="0535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12" autoAdjust="0"/>
    <p:restoredTop sz="95109" autoAdjust="0"/>
  </p:normalViewPr>
  <p:slideViewPr>
    <p:cSldViewPr>
      <p:cViewPr varScale="1">
        <p:scale>
          <a:sx n="100" d="100"/>
          <a:sy n="100" d="100"/>
        </p:scale>
        <p:origin x="162" y="72"/>
      </p:cViewPr>
      <p:guideLst>
        <p:guide orient="horz" pos="2090"/>
        <p:guide pos="389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ableStyles" Target="tableStyles.xml"/><Relationship Id="rId31" Type="http://schemas.openxmlformats.org/officeDocument/2006/relationships/tags" Target="tags/tag5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恺域科技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恺域科技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6E3CDE-72A8-4BCE-8D8E-0AD93353D2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A83835-5FA0-4497-8FBE-4A089E5F9A3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403860"/>
            <a:ext cx="7342505" cy="36000"/>
          </a:xfrm>
          <a:prstGeom prst="rect">
            <a:avLst/>
          </a:prstGeom>
          <a:solidFill>
            <a:srgbClr val="0643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 descr="kaiyulogo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718800" y="153670"/>
            <a:ext cx="1264285" cy="290195"/>
          </a:xfrm>
          <a:prstGeom prst="rect">
            <a:avLst/>
          </a:prstGeom>
        </p:spPr>
      </p:pic>
      <p:sp>
        <p:nvSpPr>
          <p:cNvPr id="7" name="平行四边形 6"/>
          <p:cNvSpPr/>
          <p:nvPr userDrawn="1"/>
        </p:nvSpPr>
        <p:spPr>
          <a:xfrm>
            <a:off x="0" y="404495"/>
            <a:ext cx="9779000" cy="36000"/>
          </a:xfrm>
          <a:prstGeom prst="parallelogram">
            <a:avLst/>
          </a:prstGeom>
          <a:solidFill>
            <a:srgbClr val="004B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平行四边形 7"/>
          <p:cNvSpPr/>
          <p:nvPr userDrawn="1"/>
        </p:nvSpPr>
        <p:spPr>
          <a:xfrm>
            <a:off x="9840595" y="404495"/>
            <a:ext cx="360045" cy="36000"/>
          </a:xfrm>
          <a:prstGeom prst="parallelogram">
            <a:avLst/>
          </a:prstGeom>
          <a:solidFill>
            <a:srgbClr val="0053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平行四边形 9"/>
          <p:cNvSpPr/>
          <p:nvPr userDrawn="1"/>
        </p:nvSpPr>
        <p:spPr>
          <a:xfrm>
            <a:off x="10262235" y="405130"/>
            <a:ext cx="285115" cy="36000"/>
          </a:xfrm>
          <a:prstGeom prst="parallelogram">
            <a:avLst/>
          </a:prstGeom>
          <a:solidFill>
            <a:srgbClr val="0051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xStyles>
    <p:titleStyle>
      <a:lvl1pPr algn="ctr" defTabSz="1218565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8565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403860"/>
            <a:ext cx="7342505" cy="36000"/>
          </a:xfrm>
          <a:prstGeom prst="rect">
            <a:avLst/>
          </a:prstGeom>
          <a:solidFill>
            <a:srgbClr val="0643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 descr="kaiyulogo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18800" y="153670"/>
            <a:ext cx="1264285" cy="290195"/>
          </a:xfrm>
          <a:prstGeom prst="rect">
            <a:avLst/>
          </a:prstGeom>
        </p:spPr>
      </p:pic>
      <p:sp>
        <p:nvSpPr>
          <p:cNvPr id="7" name="平行四边形 6"/>
          <p:cNvSpPr/>
          <p:nvPr userDrawn="1"/>
        </p:nvSpPr>
        <p:spPr>
          <a:xfrm>
            <a:off x="0" y="404495"/>
            <a:ext cx="9779000" cy="36000"/>
          </a:xfrm>
          <a:prstGeom prst="parallelogram">
            <a:avLst/>
          </a:prstGeom>
          <a:solidFill>
            <a:srgbClr val="004B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平行四边形 7"/>
          <p:cNvSpPr/>
          <p:nvPr userDrawn="1"/>
        </p:nvSpPr>
        <p:spPr>
          <a:xfrm>
            <a:off x="9840595" y="404495"/>
            <a:ext cx="360045" cy="36000"/>
          </a:xfrm>
          <a:prstGeom prst="parallelogram">
            <a:avLst/>
          </a:prstGeom>
          <a:solidFill>
            <a:srgbClr val="0053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平行四边形 9"/>
          <p:cNvSpPr/>
          <p:nvPr userDrawn="1"/>
        </p:nvSpPr>
        <p:spPr>
          <a:xfrm>
            <a:off x="10262235" y="405130"/>
            <a:ext cx="285115" cy="36000"/>
          </a:xfrm>
          <a:prstGeom prst="parallelogram">
            <a:avLst/>
          </a:prstGeom>
          <a:solidFill>
            <a:srgbClr val="0051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恺域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718800" y="153670"/>
            <a:ext cx="1264285" cy="2908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</p:sldLayoutIdLst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图片 3" descr="图片1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" y="635"/>
            <a:ext cx="12185015" cy="68599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0866" b="2111"/>
          <a:stretch>
            <a:fillRect/>
          </a:stretch>
        </p:blipFill>
        <p:spPr>
          <a:xfrm flipV="1">
            <a:off x="0" y="-1746885"/>
            <a:ext cx="11918950" cy="8641080"/>
          </a:xfrm>
          <a:prstGeom prst="rect">
            <a:avLst/>
          </a:prstGeom>
        </p:spPr>
      </p:pic>
      <p:sp>
        <p:nvSpPr>
          <p:cNvPr id="14" name="TextBox 47" descr="e7d195523061f1c01ef2b70529884c179423570dbaad84926380ABC1F97BAEF0C8FC051856578EAB7874501A1FFE158C4981707381814BCC4D9A8E3554438DEE4FBCF5A5B4D2A8B0989AB57E8BAC65EB51F56214CC8BE8DBC4C9F3C0BF9BC712216930D3F7819F3AB91D5534CAB687B24AE61786ED8145D8B1B6103300FCA0742D338447D98F942145D262F1393C862E"/>
          <p:cNvSpPr txBox="1"/>
          <p:nvPr/>
        </p:nvSpPr>
        <p:spPr>
          <a:xfrm>
            <a:off x="2104571" y="2467113"/>
            <a:ext cx="7982858" cy="119888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800" b="1" spc="300">
                <a:solidFill>
                  <a:schemeClr val="bg1"/>
                </a:solidFill>
                <a:effectLst>
                  <a:outerShdw blurRad="4191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方正姚体简体" panose="03000509000000000000" pitchFamily="65" charset="-122"/>
                <a:ea typeface="方正姚体简体" panose="03000509000000000000" pitchFamily="65" charset="-122"/>
                <a:cs typeface="Arial" panose="020B0604020202090204" pitchFamily="34" charset="0"/>
              </a:defRPr>
            </a:lvl1pPr>
          </a:lstStyle>
          <a:p>
            <a:r>
              <a:rPr lang="zh-CN" altLang="en-US" sz="7200" spc="0" dirty="0">
                <a:latin typeface="+mn-lt"/>
                <a:ea typeface="+mn-ea"/>
                <a:cs typeface="+mn-ea"/>
                <a:sym typeface="+mn-lt"/>
              </a:rPr>
              <a:t>后端服务与兜底逻辑 · Week 4</a:t>
            </a:r>
            <a:endParaRPr lang="zh-CN" altLang="en-US" sz="7200" spc="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" name="矩形 17" descr="e7d195523061f1c01ef2b70529884c179423570dbaad84926380ABC1F97BAEF0C8FC051856578EAB7874501A1FFE158C4981707381814BCC4D9A8E3554438DEE4FBCF5A5B4D2A8B0989AB57E8BAC65EBA34ED8FB1A48FECAC0ED8A4DF70CC7B90FD7A086B1F16DEEBEB2C5CF2C88846FC5891EC4571F9415002F4432C631761E04B37734D4BF7664"/>
          <p:cNvSpPr>
            <a:spLocks noChangeArrowheads="1"/>
          </p:cNvSpPr>
          <p:nvPr/>
        </p:nvSpPr>
        <p:spPr bwMode="auto">
          <a:xfrm>
            <a:off x="2326349" y="3666172"/>
            <a:ext cx="7539301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dist"/>
            <a:r>
              <a:rPr lang="en-US" altLang="zh-CN" sz="18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FastAPI 架构 · Mock 降级策略 · 高可用设计</a:t>
            </a:r>
            <a:endParaRPr lang="en-US" altLang="zh-CN" sz="18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片 4" descr="kaiyu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40" y="455295"/>
            <a:ext cx="1369695" cy="314325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824865" y="5755640"/>
            <a:ext cx="10473055" cy="610235"/>
            <a:chOff x="1186" y="8619"/>
            <a:chExt cx="16493" cy="961"/>
          </a:xfrm>
        </p:grpSpPr>
        <p:sp>
          <p:nvSpPr>
            <p:cNvPr id="2" name="AutoShape 5" descr="e7d195523061f1c01ef2b70529884c179423570dbaad84926380ABC1F97BAEF0C8FC051856578EAB7874501A1FFE158C4981707381814BCC4D9A8E3554438DEE4FBCF5A5B4D2A8B0989AB57E8BAC65EBC5561CC52632EE71BE3CB3E7D795CEBC0BBDEFA9B9283E81C288202D1B58F5340AE72D810F7EE0B794D3E42EDE13B2B641478E5140378E24B535FE96983F6D4F"/>
            <p:cNvSpPr/>
            <p:nvPr>
              <p:custDataLst>
                <p:tags r:id="rId5"/>
              </p:custDataLst>
            </p:nvPr>
          </p:nvSpPr>
          <p:spPr bwMode="auto">
            <a:xfrm>
              <a:off x="1343" y="9247"/>
              <a:ext cx="6988" cy="26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l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zh-CN" altLang="es-ES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小段介绍文字</a:t>
              </a:r>
              <a:r>
                <a:rPr lang="en-US" altLang="zh-CN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...</a:t>
              </a:r>
              <a:r>
                <a:rPr lang="zh-CN" altLang="es-ES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一小段介绍文字</a:t>
              </a:r>
              <a:r>
                <a:rPr lang="en-US" altLang="zh-CN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...</a:t>
              </a:r>
              <a:r>
                <a:rPr lang="zh-CN" altLang="es-ES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一小段介绍文字</a:t>
              </a:r>
              <a:r>
                <a:rPr lang="en-US" altLang="zh-CN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...</a:t>
              </a:r>
              <a:r>
                <a:rPr lang="zh-CN" altLang="es-ES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一小段介绍文字</a:t>
              </a:r>
              <a:r>
                <a:rPr lang="en-US" altLang="zh-CN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...</a:t>
              </a:r>
              <a:r>
                <a:rPr lang="zh-CN" altLang="es-ES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一小段介绍文字</a:t>
              </a:r>
              <a:r>
                <a:rPr lang="en-US" altLang="zh-CN" sz="9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..</a:t>
              </a:r>
              <a:endParaRPr lang="en-US" altLang="zh-CN" sz="900" dirty="0">
                <a:solidFill>
                  <a:schemeClr val="lt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  <p:sp>
          <p:nvSpPr>
            <p:cNvPr id="6" name="TextBox 15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/>
            <p:cNvSpPr txBox="1"/>
            <p:nvPr>
              <p:custDataLst>
                <p:tags r:id="rId6"/>
              </p:custDataLst>
            </p:nvPr>
          </p:nvSpPr>
          <p:spPr>
            <a:xfrm>
              <a:off x="1186" y="8619"/>
              <a:ext cx="8490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60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2040204020203" pitchFamily="34" charset="-122"/>
                </a:defRPr>
              </a:lvl1pPr>
            </a:lstStyle>
            <a:p>
              <a:pPr algn="l"/>
              <a:r>
                <a:rPr lang="zh-CN" altLang="en-US" sz="2000" b="1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小标题小标题</a:t>
              </a:r>
              <a:endParaRPr lang="zh-CN" altLang="en-US" sz="2000" b="1" dirty="0">
                <a:solidFill>
                  <a:schemeClr val="lt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  <p:sp>
          <p:nvSpPr>
            <p:cNvPr id="7" name="AutoShape 5" descr="e7d195523061f1c01ef2b70529884c179423570dbaad84926380ABC1F97BAEF0C8FC051856578EAB7874501A1FFE158C4981707381814BCC4D9A8E3554438DEE4FBCF5A5B4D2A8B0989AB57E8BAC65EBC5561CC52632EE71BE3CB3E7D795CEBC0BBDEFA9B9283E81C288202D1B58F5340AE72D810F7EE0B794D3E42EDE13B2B641478E5140378E24B535FE96983F6D4F"/>
            <p:cNvSpPr/>
            <p:nvPr>
              <p:custDataLst>
                <p:tags r:id="rId7"/>
              </p:custDataLst>
            </p:nvPr>
          </p:nvSpPr>
          <p:spPr bwMode="auto">
            <a:xfrm>
              <a:off x="11693" y="9174"/>
              <a:ext cx="5986" cy="40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p>
              <a:pPr algn="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n-US" sz="14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2022</a:t>
              </a:r>
              <a:r>
                <a:rPr lang="zh-CN" altLang="en-US" sz="14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年</a:t>
              </a:r>
              <a:r>
                <a:rPr lang="en-US" altLang="zh-CN" sz="14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6</a:t>
              </a:r>
              <a:r>
                <a:rPr lang="zh-CN" altLang="en-US" sz="1400" dirty="0">
                  <a:solidFill>
                    <a:schemeClr val="lt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月</a:t>
              </a:r>
              <a:endParaRPr lang="zh-CN" altLang="en-US" sz="1400" dirty="0">
                <a:solidFill>
                  <a:schemeClr val="lt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</p:grpSp>
      <p:sp>
        <p:nvSpPr>
          <p:cNvPr id="8" name="流程图: 可选过程 7"/>
          <p:cNvSpPr/>
          <p:nvPr/>
        </p:nvSpPr>
        <p:spPr>
          <a:xfrm>
            <a:off x="637540" y="5807710"/>
            <a:ext cx="76200" cy="512445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420370"/>
            <a:ext cx="2965450" cy="6437630"/>
          </a:xfrm>
          <a:prstGeom prst="rect">
            <a:avLst/>
          </a:prstGeom>
          <a:gradFill>
            <a:gsLst>
              <a:gs pos="0">
                <a:srgbClr val="00479E"/>
              </a:gs>
              <a:gs pos="100000">
                <a:srgbClr val="1B336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3995" y="1781175"/>
            <a:ext cx="3394075" cy="5093335"/>
          </a:xfrm>
          <a:prstGeom prst="rect">
            <a:avLst/>
          </a:prstGeom>
        </p:spPr>
      </p:pic>
      <p:sp>
        <p:nvSpPr>
          <p:cNvPr id="14" name="TextBox 47" descr="e7d195523061f1c01ef2b70529884c179423570dbaad84926380ABC1F97BAEF0C8FC051856578EAB7874501A1FFE158C4981707381814BCC4D9A8E3554438DEE4FBCF5A5B4D2A8B0989AB57E8BAC65EB51F56214CC8BE8DBC4C9F3C0BF9BC712216930D3F7819F3AB91D5534CAB687B24AE61786ED8145D8B1B6103300FCA0742D338447D98F942145D262F1393C862E"/>
          <p:cNvSpPr txBox="1"/>
          <p:nvPr/>
        </p:nvSpPr>
        <p:spPr>
          <a:xfrm>
            <a:off x="554355" y="1309370"/>
            <a:ext cx="1275080" cy="6451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800" b="1" spc="300">
                <a:solidFill>
                  <a:schemeClr val="bg1"/>
                </a:solidFill>
                <a:effectLst>
                  <a:outerShdw blurRad="4191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方正姚体简体" panose="03000509000000000000" pitchFamily="65" charset="-122"/>
                <a:ea typeface="方正姚体简体" panose="03000509000000000000" pitchFamily="65" charset="-122"/>
                <a:cs typeface="Arial" panose="020B0604020202090204" pitchFamily="34" charset="0"/>
              </a:defRPr>
            </a:lvl1pPr>
          </a:lstStyle>
          <a:p>
            <a:pPr algn="l"/>
            <a:r>
              <a:rPr lang="zh-CN" altLang="en-US" sz="3600" spc="0" dirty="0"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rPr>
              <a:t>目录</a:t>
            </a:r>
            <a:endParaRPr lang="zh-CN" altLang="en-US" sz="3600" spc="0" dirty="0"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90204" pitchFamily="34" charset="0"/>
              <a:ea typeface="汉仪旗黑-55简" panose="00020600040101010101" charset="-122"/>
              <a:cs typeface="+mn-ea"/>
              <a:sym typeface="+mn-lt"/>
            </a:endParaRPr>
          </a:p>
        </p:txBody>
      </p:sp>
      <p:sp>
        <p:nvSpPr>
          <p:cNvPr id="16" name="TextBox 15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/>
          <p:cNvSpPr txBox="1"/>
          <p:nvPr>
            <p:custDataLst>
              <p:tags r:id="rId2"/>
            </p:custDataLst>
          </p:nvPr>
        </p:nvSpPr>
        <p:spPr>
          <a:xfrm>
            <a:off x="554355" y="5493385"/>
            <a:ext cx="212725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6000">
                <a:ln w="38100">
                  <a:noFill/>
                </a:ln>
                <a:solidFill>
                  <a:schemeClr val="bg1"/>
                </a:solidFill>
                <a:latin typeface="Impact" panose="020B0806030902050204" pitchFamily="34" charset="0"/>
                <a:ea typeface="微软雅黑" panose="020B0502040204020203" pitchFamily="34" charset="-122"/>
              </a:defRPr>
            </a:lvl1pPr>
          </a:lstStyle>
          <a:p>
            <a:pPr algn="l"/>
            <a:r>
              <a:rPr lang="en-US" altLang="zh-CN" sz="1600" b="1" dirty="0">
                <a:solidFill>
                  <a:schemeClr val="bg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rPr>
              <a:t>contents</a:t>
            </a:r>
            <a:endParaRPr lang="en-US" altLang="zh-CN" sz="1600" b="1" dirty="0">
              <a:solidFill>
                <a:schemeClr val="bg1"/>
              </a:solidFill>
              <a:latin typeface="Arial" panose="020B0604020202090204" pitchFamily="34" charset="0"/>
              <a:ea typeface="汉仪旗黑-55简" panose="00020600040101010101" charset="-122"/>
              <a:cs typeface="+mn-ea"/>
              <a:sym typeface="+mn-lt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6482715" y="939800"/>
            <a:ext cx="2477135" cy="840740"/>
            <a:chOff x="5522" y="1826"/>
            <a:chExt cx="3901" cy="1324"/>
          </a:xfrm>
        </p:grpSpPr>
        <p:pic>
          <p:nvPicPr>
            <p:cNvPr id="51" name="图片 5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2" y="1826"/>
              <a:ext cx="1325" cy="1325"/>
            </a:xfrm>
            <a:prstGeom prst="rect">
              <a:avLst/>
            </a:prstGeom>
          </p:spPr>
        </p:pic>
        <p:grpSp>
          <p:nvGrpSpPr>
            <p:cNvPr id="23" name="组合 22"/>
            <p:cNvGrpSpPr/>
            <p:nvPr/>
          </p:nvGrpSpPr>
          <p:grpSpPr>
            <a:xfrm>
              <a:off x="5765" y="2069"/>
              <a:ext cx="3659" cy="838"/>
              <a:chOff x="6647" y="2245"/>
              <a:chExt cx="3659" cy="838"/>
            </a:xfrm>
          </p:grpSpPr>
          <p:sp>
            <p:nvSpPr>
              <p:cNvPr id="19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7812" y="2374"/>
                <a:ext cx="2494" cy="58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zh-CN" altLang="es-ES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目录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1</a:t>
                </a:r>
                <a:endPara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6647" y="2245"/>
                <a:ext cx="839" cy="838"/>
                <a:chOff x="6708" y="3228"/>
                <a:chExt cx="839" cy="838"/>
              </a:xfrm>
            </p:grpSpPr>
            <p:sp>
              <p:nvSpPr>
                <p:cNvPr id="21" name="AutoShape 10"/>
                <p:cNvSpPr/>
                <p:nvPr>
                  <p:custDataLst>
                    <p:tags r:id="rId5"/>
                  </p:custDataLst>
                </p:nvPr>
              </p:nvSpPr>
              <p:spPr bwMode="auto">
                <a:xfrm>
                  <a:off x="6708" y="3228"/>
                  <a:ext cx="839" cy="839"/>
                </a:xfrm>
                <a:custGeom>
                  <a:avLst/>
                  <a:gdLst>
                    <a:gd name="T0" fmla="*/ 532579 w 19679"/>
                    <a:gd name="T1" fmla="*/ 584598 h 19679"/>
                    <a:gd name="T2" fmla="*/ 532579 w 19679"/>
                    <a:gd name="T3" fmla="*/ 584598 h 19679"/>
                    <a:gd name="T4" fmla="*/ 532579 w 19679"/>
                    <a:gd name="T5" fmla="*/ 584598 h 19679"/>
                    <a:gd name="T6" fmla="*/ 532579 w 19679"/>
                    <a:gd name="T7" fmla="*/ 584598 h 1967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8" y="6724"/>
                        <a:pt x="20638" y="12953"/>
                        <a:pt x="16796" y="16796"/>
                      </a:cubicBezTo>
                      <a:cubicBezTo>
                        <a:pt x="12953" y="20638"/>
                        <a:pt x="6724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4" y="-961"/>
                        <a:pt x="12953" y="-961"/>
                        <a:pt x="16796" y="2881"/>
                      </a:cubicBezTo>
                    </a:path>
                  </a:pathLst>
                </a:custGeom>
                <a:solidFill>
                  <a:srgbClr val="EEF5FB"/>
                </a:solidFill>
                <a:ln w="25400" cap="flat" cmpd="sng">
                  <a:noFill/>
                  <a:prstDash val="solid"/>
                  <a:miter lim="0"/>
                </a:ln>
                <a:effectLst/>
              </p:spPr>
              <p:txBody>
                <a:bodyPr lIns="0" tIns="0" rIns="0" bIns="0" anchor="ctr"/>
                <a:p>
                  <a:endParaRPr lang="zh-CN" altLang="en-US" sz="200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  <p:cNvSpPr/>
                <p:nvPr>
                  <p:custDataLst>
                    <p:tags r:id="rId6"/>
                  </p:custDataLst>
                </p:nvPr>
              </p:nvSpPr>
              <p:spPr bwMode="auto">
                <a:xfrm>
                  <a:off x="6883" y="3357"/>
                  <a:ext cx="665" cy="581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</p:spPr>
              <p:txBody>
                <a:bodyPr wrap="square" lIns="0" tIns="0" rIns="0" bIns="0">
                  <a:spAutoFit/>
                </a:bodyPr>
                <a:p>
                  <a:pPr algn="l" defTabSz="323850">
                    <a:spcBef>
                      <a:spcPts val="850"/>
                    </a:spcBef>
                  </a:pPr>
                  <a:r>
                    <a:rPr lang="en-US" sz="2400" b="1" dirty="0">
                      <a:solidFill>
                        <a:srgbClr val="004B9F"/>
                      </a:solidFill>
                      <a:latin typeface="Arial" panose="020B0604020202090204" pitchFamily="34" charset="0"/>
                      <a:ea typeface="汉仪旗黑-55简" panose="00020600040101010101" charset="-122"/>
                      <a:cs typeface="+mn-ea"/>
                      <a:sym typeface="+mn-lt"/>
                    </a:rPr>
                    <a:t>01</a:t>
                  </a:r>
                  <a:endParaRPr lang="en-US" sz="2400" b="1" dirty="0">
                    <a:solidFill>
                      <a:srgbClr val="004B9F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54" name="组合 53"/>
          <p:cNvGrpSpPr/>
          <p:nvPr/>
        </p:nvGrpSpPr>
        <p:grpSpPr>
          <a:xfrm>
            <a:off x="6482715" y="1989455"/>
            <a:ext cx="2477770" cy="841375"/>
            <a:chOff x="5522" y="1826"/>
            <a:chExt cx="3902" cy="1325"/>
          </a:xfrm>
        </p:grpSpPr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2" y="1826"/>
              <a:ext cx="1325" cy="1325"/>
            </a:xfrm>
            <a:prstGeom prst="rect">
              <a:avLst/>
            </a:prstGeom>
          </p:spPr>
        </p:pic>
        <p:grpSp>
          <p:nvGrpSpPr>
            <p:cNvPr id="56" name="组合 55"/>
            <p:cNvGrpSpPr/>
            <p:nvPr/>
          </p:nvGrpSpPr>
          <p:grpSpPr>
            <a:xfrm>
              <a:off x="5765" y="2069"/>
              <a:ext cx="3659" cy="839"/>
              <a:chOff x="6647" y="2245"/>
              <a:chExt cx="3659" cy="839"/>
            </a:xfrm>
          </p:grpSpPr>
          <p:sp>
            <p:nvSpPr>
              <p:cNvPr id="57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7812" y="2374"/>
                <a:ext cx="2494" cy="58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zh-CN" altLang="es-ES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目录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2</a:t>
                </a:r>
                <a:endPara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  <p:grpSp>
            <p:nvGrpSpPr>
              <p:cNvPr id="58" name="组合 57"/>
              <p:cNvGrpSpPr/>
              <p:nvPr/>
            </p:nvGrpSpPr>
            <p:grpSpPr>
              <a:xfrm>
                <a:off x="6647" y="2245"/>
                <a:ext cx="840" cy="839"/>
                <a:chOff x="6708" y="3228"/>
                <a:chExt cx="840" cy="839"/>
              </a:xfrm>
            </p:grpSpPr>
            <p:sp>
              <p:nvSpPr>
                <p:cNvPr id="59" name="AutoShape 10"/>
                <p:cNvSpPr/>
                <p:nvPr>
                  <p:custDataLst>
                    <p:tags r:id="rId8"/>
                  </p:custDataLst>
                </p:nvPr>
              </p:nvSpPr>
              <p:spPr bwMode="auto">
                <a:xfrm>
                  <a:off x="6708" y="3228"/>
                  <a:ext cx="839" cy="839"/>
                </a:xfrm>
                <a:custGeom>
                  <a:avLst/>
                  <a:gdLst>
                    <a:gd name="T0" fmla="*/ 532579 w 19679"/>
                    <a:gd name="T1" fmla="*/ 584598 h 19679"/>
                    <a:gd name="T2" fmla="*/ 532579 w 19679"/>
                    <a:gd name="T3" fmla="*/ 584598 h 19679"/>
                    <a:gd name="T4" fmla="*/ 532579 w 19679"/>
                    <a:gd name="T5" fmla="*/ 584598 h 19679"/>
                    <a:gd name="T6" fmla="*/ 532579 w 19679"/>
                    <a:gd name="T7" fmla="*/ 584598 h 1967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8" y="6724"/>
                        <a:pt x="20638" y="12953"/>
                        <a:pt x="16796" y="16796"/>
                      </a:cubicBezTo>
                      <a:cubicBezTo>
                        <a:pt x="12953" y="20638"/>
                        <a:pt x="6724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4" y="-961"/>
                        <a:pt x="12953" y="-961"/>
                        <a:pt x="16796" y="2881"/>
                      </a:cubicBezTo>
                    </a:path>
                  </a:pathLst>
                </a:custGeom>
                <a:solidFill>
                  <a:srgbClr val="EEF5FB"/>
                </a:solidFill>
                <a:ln w="25400" cap="flat" cmpd="sng">
                  <a:noFill/>
                  <a:prstDash val="solid"/>
                  <a:miter lim="0"/>
                </a:ln>
                <a:effectLst/>
              </p:spPr>
              <p:txBody>
                <a:bodyPr lIns="0" tIns="0" rIns="0" bIns="0" anchor="ctr"/>
                <a:p>
                  <a:endParaRPr lang="zh-CN" altLang="en-US" sz="200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0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  <p:cNvSpPr/>
                <p:nvPr>
                  <p:custDataLst>
                    <p:tags r:id="rId9"/>
                  </p:custDataLst>
                </p:nvPr>
              </p:nvSpPr>
              <p:spPr bwMode="auto">
                <a:xfrm>
                  <a:off x="6883" y="3357"/>
                  <a:ext cx="665" cy="581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</p:spPr>
              <p:txBody>
                <a:bodyPr wrap="square" lIns="0" tIns="0" rIns="0" bIns="0">
                  <a:spAutoFit/>
                </a:bodyPr>
                <a:p>
                  <a:pPr algn="l" defTabSz="323850">
                    <a:spcBef>
                      <a:spcPts val="850"/>
                    </a:spcBef>
                  </a:pPr>
                  <a:r>
                    <a:rPr lang="en-US" sz="2400" b="1" dirty="0">
                      <a:solidFill>
                        <a:srgbClr val="004B9F"/>
                      </a:solidFill>
                      <a:latin typeface="Arial" panose="020B0604020202090204" pitchFamily="34" charset="0"/>
                      <a:ea typeface="汉仪旗黑-55简" panose="00020600040101010101" charset="-122"/>
                      <a:cs typeface="+mn-ea"/>
                      <a:sym typeface="+mn-lt"/>
                    </a:rPr>
                    <a:t>02</a:t>
                  </a:r>
                  <a:endParaRPr lang="en-US" sz="2400" b="1" dirty="0">
                    <a:solidFill>
                      <a:srgbClr val="004B9F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61" name="组合 60"/>
          <p:cNvGrpSpPr/>
          <p:nvPr/>
        </p:nvGrpSpPr>
        <p:grpSpPr>
          <a:xfrm>
            <a:off x="6482715" y="3011805"/>
            <a:ext cx="2477770" cy="841375"/>
            <a:chOff x="5522" y="1826"/>
            <a:chExt cx="3902" cy="1325"/>
          </a:xfrm>
        </p:grpSpPr>
        <p:pic>
          <p:nvPicPr>
            <p:cNvPr id="62" name="图片 6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2" y="1826"/>
              <a:ext cx="1325" cy="1325"/>
            </a:xfrm>
            <a:prstGeom prst="rect">
              <a:avLst/>
            </a:prstGeom>
          </p:spPr>
        </p:pic>
        <p:grpSp>
          <p:nvGrpSpPr>
            <p:cNvPr id="63" name="组合 62"/>
            <p:cNvGrpSpPr/>
            <p:nvPr/>
          </p:nvGrpSpPr>
          <p:grpSpPr>
            <a:xfrm>
              <a:off x="5765" y="2069"/>
              <a:ext cx="3659" cy="839"/>
              <a:chOff x="6647" y="2245"/>
              <a:chExt cx="3659" cy="839"/>
            </a:xfrm>
          </p:grpSpPr>
          <p:sp>
            <p:nvSpPr>
              <p:cNvPr id="6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7812" y="2374"/>
                <a:ext cx="2494" cy="581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zh-CN" altLang="es-ES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目录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3</a:t>
                </a:r>
                <a:endPara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  <p:grpSp>
            <p:nvGrpSpPr>
              <p:cNvPr id="65" name="组合 64"/>
              <p:cNvGrpSpPr/>
              <p:nvPr/>
            </p:nvGrpSpPr>
            <p:grpSpPr>
              <a:xfrm>
                <a:off x="6647" y="2245"/>
                <a:ext cx="840" cy="839"/>
                <a:chOff x="6708" y="3228"/>
                <a:chExt cx="840" cy="839"/>
              </a:xfrm>
            </p:grpSpPr>
            <p:sp>
              <p:nvSpPr>
                <p:cNvPr id="66" name="AutoShape 10"/>
                <p:cNvSpPr/>
                <p:nvPr>
                  <p:custDataLst>
                    <p:tags r:id="rId11"/>
                  </p:custDataLst>
                </p:nvPr>
              </p:nvSpPr>
              <p:spPr bwMode="auto">
                <a:xfrm>
                  <a:off x="6708" y="3228"/>
                  <a:ext cx="839" cy="839"/>
                </a:xfrm>
                <a:custGeom>
                  <a:avLst/>
                  <a:gdLst>
                    <a:gd name="T0" fmla="*/ 532579 w 19679"/>
                    <a:gd name="T1" fmla="*/ 584598 h 19679"/>
                    <a:gd name="T2" fmla="*/ 532579 w 19679"/>
                    <a:gd name="T3" fmla="*/ 584598 h 19679"/>
                    <a:gd name="T4" fmla="*/ 532579 w 19679"/>
                    <a:gd name="T5" fmla="*/ 584598 h 19679"/>
                    <a:gd name="T6" fmla="*/ 532579 w 19679"/>
                    <a:gd name="T7" fmla="*/ 584598 h 1967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9679" h="19679">
                      <a:moveTo>
                        <a:pt x="16796" y="2881"/>
                      </a:moveTo>
                      <a:cubicBezTo>
                        <a:pt x="20638" y="6724"/>
                        <a:pt x="20638" y="12953"/>
                        <a:pt x="16796" y="16796"/>
                      </a:cubicBezTo>
                      <a:cubicBezTo>
                        <a:pt x="12953" y="20638"/>
                        <a:pt x="6724" y="20638"/>
                        <a:pt x="2881" y="16796"/>
                      </a:cubicBezTo>
                      <a:cubicBezTo>
                        <a:pt x="-961" y="12953"/>
                        <a:pt x="-961" y="6724"/>
                        <a:pt x="2881" y="2881"/>
                      </a:cubicBezTo>
                      <a:cubicBezTo>
                        <a:pt x="6724" y="-961"/>
                        <a:pt x="12953" y="-961"/>
                        <a:pt x="16796" y="2881"/>
                      </a:cubicBezTo>
                    </a:path>
                  </a:pathLst>
                </a:custGeom>
                <a:solidFill>
                  <a:srgbClr val="EEF5FB"/>
                </a:solidFill>
                <a:ln w="25400" cap="flat" cmpd="sng">
                  <a:noFill/>
                  <a:prstDash val="solid"/>
                  <a:miter lim="0"/>
                </a:ln>
                <a:effectLst/>
              </p:spPr>
              <p:txBody>
                <a:bodyPr lIns="0" tIns="0" rIns="0" bIns="0" anchor="ctr"/>
                <a:p>
                  <a:endParaRPr lang="zh-CN" altLang="en-US" sz="200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  <p:cNvSpPr/>
                <p:nvPr>
                  <p:custDataLst>
                    <p:tags r:id="rId12"/>
                  </p:custDataLst>
                </p:nvPr>
              </p:nvSpPr>
              <p:spPr bwMode="auto">
                <a:xfrm>
                  <a:off x="6883" y="3357"/>
                  <a:ext cx="665" cy="581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0" y="0"/>
                      </a:moveTo>
                      <a:lnTo>
                        <a:pt x="21599" y="0"/>
                      </a:lnTo>
                      <a:lnTo>
                        <a:pt x="21599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</p:spPr>
              <p:txBody>
                <a:bodyPr wrap="square" lIns="0" tIns="0" rIns="0" bIns="0">
                  <a:spAutoFit/>
                </a:bodyPr>
                <a:p>
                  <a:pPr algn="l" defTabSz="323850">
                    <a:spcBef>
                      <a:spcPts val="850"/>
                    </a:spcBef>
                  </a:pPr>
                  <a:r>
                    <a:rPr lang="en-US" sz="2400" b="1" dirty="0">
                      <a:solidFill>
                        <a:srgbClr val="004B9F"/>
                      </a:solidFill>
                      <a:latin typeface="Arial" panose="020B0604020202090204" pitchFamily="34" charset="0"/>
                      <a:ea typeface="汉仪旗黑-55简" panose="00020600040101010101" charset="-122"/>
                      <a:cs typeface="+mn-ea"/>
                      <a:sym typeface="+mn-lt"/>
                    </a:rPr>
                    <a:t>03</a:t>
                  </a:r>
                  <a:endParaRPr lang="en-US" sz="2400" b="1" dirty="0">
                    <a:solidFill>
                      <a:srgbClr val="004B9F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endParaRPr>
                </a:p>
              </p:txBody>
            </p:sp>
          </p:grpSp>
        </p:grpSp>
      </p:grpSp>
      <p:cxnSp>
        <p:nvCxnSpPr>
          <p:cNvPr id="68" name="直接连接符 67"/>
          <p:cNvCxnSpPr/>
          <p:nvPr/>
        </p:nvCxnSpPr>
        <p:spPr>
          <a:xfrm>
            <a:off x="637540" y="5948045"/>
            <a:ext cx="121983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/>
        </p:nvGrpSpPr>
        <p:grpSpPr>
          <a:xfrm>
            <a:off x="3655060" y="939800"/>
            <a:ext cx="2827655" cy="1014730"/>
            <a:chOff x="10319" y="1402"/>
            <a:chExt cx="4453" cy="1598"/>
          </a:xfrm>
        </p:grpSpPr>
        <p:grpSp>
          <p:nvGrpSpPr>
            <p:cNvPr id="76" name="组合 75"/>
            <p:cNvGrpSpPr/>
            <p:nvPr/>
          </p:nvGrpSpPr>
          <p:grpSpPr>
            <a:xfrm>
              <a:off x="10319" y="1402"/>
              <a:ext cx="1811" cy="1598"/>
              <a:chOff x="10234" y="5569"/>
              <a:chExt cx="1811" cy="1598"/>
            </a:xfrm>
          </p:grpSpPr>
          <p:grpSp>
            <p:nvGrpSpPr>
              <p:cNvPr id="72" name="组合 39"/>
              <p:cNvGrpSpPr/>
              <p:nvPr/>
            </p:nvGrpSpPr>
            <p:grpSpPr>
              <a:xfrm>
                <a:off x="10234" y="5569"/>
                <a:ext cx="1699" cy="1598"/>
                <a:chOff x="5117306" y="2065735"/>
                <a:chExt cx="1453754" cy="1431131"/>
              </a:xfrm>
              <a:solidFill>
                <a:srgbClr val="0053B5"/>
              </a:solidFill>
            </p:grpSpPr>
            <p:sp>
              <p:nvSpPr>
                <p:cNvPr id="73" name="Freeform 17"/>
                <p:cNvSpPr>
                  <a:spLocks noChangeAspect="1"/>
                </p:cNvSpPr>
                <p:nvPr>
                  <p:custDataLst>
                    <p:tags r:id="rId13"/>
                  </p:custDataLst>
                </p:nvPr>
              </p:nvSpPr>
              <p:spPr bwMode="auto">
                <a:xfrm>
                  <a:off x="5117306" y="2065735"/>
                  <a:ext cx="1453754" cy="1431131"/>
                </a:xfrm>
                <a:custGeom>
                  <a:avLst/>
                  <a:gdLst>
                    <a:gd name="T0" fmla="*/ 145 w 145"/>
                    <a:gd name="T1" fmla="*/ 74 h 143"/>
                    <a:gd name="T2" fmla="*/ 133 w 145"/>
                    <a:gd name="T3" fmla="*/ 88 h 143"/>
                    <a:gd name="T4" fmla="*/ 8 w 145"/>
                    <a:gd name="T5" fmla="*/ 143 h 143"/>
                    <a:gd name="T6" fmla="*/ 2 w 145"/>
                    <a:gd name="T7" fmla="*/ 141 h 143"/>
                    <a:gd name="T8" fmla="*/ 0 w 145"/>
                    <a:gd name="T9" fmla="*/ 135 h 143"/>
                    <a:gd name="T10" fmla="*/ 6 w 145"/>
                    <a:gd name="T11" fmla="*/ 108 h 143"/>
                    <a:gd name="T12" fmla="*/ 50 w 145"/>
                    <a:gd name="T13" fmla="*/ 73 h 143"/>
                    <a:gd name="T14" fmla="*/ 21 w 145"/>
                    <a:gd name="T15" fmla="*/ 44 h 143"/>
                    <a:gd name="T16" fmla="*/ 29 w 145"/>
                    <a:gd name="T17" fmla="*/ 8 h 143"/>
                    <a:gd name="T18" fmla="*/ 36 w 145"/>
                    <a:gd name="T19" fmla="*/ 1 h 143"/>
                    <a:gd name="T20" fmla="*/ 44 w 145"/>
                    <a:gd name="T21" fmla="*/ 3 h 143"/>
                    <a:gd name="T22" fmla="*/ 138 w 145"/>
                    <a:gd name="T23" fmla="*/ 61 h 143"/>
                    <a:gd name="T24" fmla="*/ 145 w 145"/>
                    <a:gd name="T25" fmla="*/ 74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45" h="143">
                      <a:moveTo>
                        <a:pt x="145" y="74"/>
                      </a:moveTo>
                      <a:cubicBezTo>
                        <a:pt x="145" y="82"/>
                        <a:pt x="133" y="88"/>
                        <a:pt x="133" y="88"/>
                      </a:cubicBezTo>
                      <a:cubicBezTo>
                        <a:pt x="8" y="143"/>
                        <a:pt x="8" y="143"/>
                        <a:pt x="8" y="143"/>
                      </a:cubicBezTo>
                      <a:cubicBezTo>
                        <a:pt x="8" y="143"/>
                        <a:pt x="4" y="143"/>
                        <a:pt x="2" y="141"/>
                      </a:cubicBezTo>
                      <a:cubicBezTo>
                        <a:pt x="0" y="139"/>
                        <a:pt x="0" y="135"/>
                        <a:pt x="0" y="135"/>
                      </a:cubicBezTo>
                      <a:cubicBezTo>
                        <a:pt x="6" y="108"/>
                        <a:pt x="6" y="108"/>
                        <a:pt x="6" y="108"/>
                      </a:cubicBezTo>
                      <a:cubicBezTo>
                        <a:pt x="6" y="108"/>
                        <a:pt x="50" y="92"/>
                        <a:pt x="50" y="73"/>
                      </a:cubicBezTo>
                      <a:cubicBezTo>
                        <a:pt x="49" y="57"/>
                        <a:pt x="21" y="44"/>
                        <a:pt x="21" y="44"/>
                      </a:cubicBezTo>
                      <a:cubicBezTo>
                        <a:pt x="29" y="8"/>
                        <a:pt x="29" y="8"/>
                        <a:pt x="29" y="8"/>
                      </a:cubicBezTo>
                      <a:cubicBezTo>
                        <a:pt x="29" y="8"/>
                        <a:pt x="31" y="3"/>
                        <a:pt x="36" y="1"/>
                      </a:cubicBezTo>
                      <a:cubicBezTo>
                        <a:pt x="40" y="0"/>
                        <a:pt x="44" y="3"/>
                        <a:pt x="44" y="3"/>
                      </a:cubicBezTo>
                      <a:cubicBezTo>
                        <a:pt x="138" y="61"/>
                        <a:pt x="138" y="61"/>
                        <a:pt x="138" y="61"/>
                      </a:cubicBezTo>
                      <a:cubicBezTo>
                        <a:pt x="138" y="61"/>
                        <a:pt x="145" y="65"/>
                        <a:pt x="145" y="74"/>
                      </a:cubicBezTo>
                      <a:close/>
                    </a:path>
                  </a:pathLst>
                </a:custGeom>
                <a:grpFill/>
                <a:ln w="3175" cap="flat" cmpd="sng" algn="ctr">
                  <a:noFill/>
                  <a:prstDash val="solid"/>
                </a:ln>
                <a:effectLst/>
              </p:spPr>
              <p:txBody>
                <a:bodyPr lIns="91417" tIns="45708" rIns="91417" bIns="45708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endParaRPr lang="zh-CN" altLang="en-US" sz="1065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74" name="Freeform 26"/>
                <p:cNvSpPr>
                  <a:spLocks noChangeAspect="1"/>
                </p:cNvSpPr>
                <p:nvPr>
                  <p:custDataLst>
                    <p:tags r:id="rId14"/>
                  </p:custDataLst>
                </p:nvPr>
              </p:nvSpPr>
              <p:spPr bwMode="auto">
                <a:xfrm>
                  <a:off x="5865019" y="2717007"/>
                  <a:ext cx="182166" cy="189310"/>
                </a:xfrm>
                <a:custGeom>
                  <a:avLst/>
                  <a:gdLst>
                    <a:gd name="T0" fmla="*/ 103 w 274"/>
                    <a:gd name="T1" fmla="*/ 284 h 284"/>
                    <a:gd name="T2" fmla="*/ 80 w 274"/>
                    <a:gd name="T3" fmla="*/ 273 h 284"/>
                    <a:gd name="T4" fmla="*/ 9 w 274"/>
                    <a:gd name="T5" fmla="*/ 178 h 284"/>
                    <a:gd name="T6" fmla="*/ 14 w 274"/>
                    <a:gd name="T7" fmla="*/ 139 h 284"/>
                    <a:gd name="T8" fmla="*/ 53 w 274"/>
                    <a:gd name="T9" fmla="*/ 145 h 284"/>
                    <a:gd name="T10" fmla="*/ 100 w 274"/>
                    <a:gd name="T11" fmla="*/ 207 h 284"/>
                    <a:gd name="T12" fmla="*/ 219 w 274"/>
                    <a:gd name="T13" fmla="*/ 17 h 284"/>
                    <a:gd name="T14" fmla="*/ 257 w 274"/>
                    <a:gd name="T15" fmla="*/ 8 h 284"/>
                    <a:gd name="T16" fmla="*/ 266 w 274"/>
                    <a:gd name="T17" fmla="*/ 47 h 284"/>
                    <a:gd name="T18" fmla="*/ 126 w 274"/>
                    <a:gd name="T19" fmla="*/ 271 h 284"/>
                    <a:gd name="T20" fmla="*/ 104 w 274"/>
                    <a:gd name="T21" fmla="*/ 284 h 284"/>
                    <a:gd name="T22" fmla="*/ 103 w 274"/>
                    <a:gd name="T23" fmla="*/ 284 h 2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74" h="284">
                      <a:moveTo>
                        <a:pt x="103" y="284"/>
                      </a:moveTo>
                      <a:cubicBezTo>
                        <a:pt x="94" y="284"/>
                        <a:pt x="86" y="280"/>
                        <a:pt x="80" y="273"/>
                      </a:cubicBezTo>
                      <a:cubicBezTo>
                        <a:pt x="9" y="178"/>
                        <a:pt x="9" y="178"/>
                        <a:pt x="9" y="178"/>
                      </a:cubicBezTo>
                      <a:cubicBezTo>
                        <a:pt x="0" y="166"/>
                        <a:pt x="2" y="149"/>
                        <a:pt x="14" y="139"/>
                      </a:cubicBezTo>
                      <a:cubicBezTo>
                        <a:pt x="27" y="130"/>
                        <a:pt x="44" y="133"/>
                        <a:pt x="53" y="145"/>
                      </a:cubicBezTo>
                      <a:cubicBezTo>
                        <a:pt x="100" y="207"/>
                        <a:pt x="100" y="207"/>
                        <a:pt x="100" y="207"/>
                      </a:cubicBezTo>
                      <a:cubicBezTo>
                        <a:pt x="219" y="17"/>
                        <a:pt x="219" y="17"/>
                        <a:pt x="219" y="17"/>
                      </a:cubicBezTo>
                      <a:cubicBezTo>
                        <a:pt x="227" y="4"/>
                        <a:pt x="244" y="0"/>
                        <a:pt x="257" y="8"/>
                      </a:cubicBezTo>
                      <a:cubicBezTo>
                        <a:pt x="270" y="16"/>
                        <a:pt x="274" y="33"/>
                        <a:pt x="266" y="47"/>
                      </a:cubicBezTo>
                      <a:cubicBezTo>
                        <a:pt x="126" y="271"/>
                        <a:pt x="126" y="271"/>
                        <a:pt x="126" y="271"/>
                      </a:cubicBezTo>
                      <a:cubicBezTo>
                        <a:pt x="121" y="279"/>
                        <a:pt x="113" y="283"/>
                        <a:pt x="104" y="284"/>
                      </a:cubicBezTo>
                      <a:cubicBezTo>
                        <a:pt x="104" y="284"/>
                        <a:pt x="103" y="284"/>
                        <a:pt x="103" y="28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lIns="91417" tIns="45708" rIns="91417" bIns="45708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en-US" sz="2000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75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10913" y="5976"/>
                <a:ext cx="1133" cy="67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en-US" sz="28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01</a:t>
                </a:r>
                <a:endParaRPr lang="en-US" sz="28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77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>
              <p:custDataLst>
                <p:tags r:id="rId16"/>
              </p:custDataLst>
            </p:nvPr>
          </p:nvSpPr>
          <p:spPr bwMode="auto">
            <a:xfrm>
              <a:off x="12278" y="1857"/>
              <a:ext cx="2494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目录</a:t>
              </a:r>
              <a:r>
                <a: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1</a:t>
              </a:r>
              <a:endParaRPr lang="en-US" altLang="zh-CN" sz="2400" b="1" dirty="0">
                <a:solidFill>
                  <a:schemeClr val="bg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3655060" y="2226945"/>
            <a:ext cx="2827655" cy="1014730"/>
            <a:chOff x="10319" y="1402"/>
            <a:chExt cx="4453" cy="1598"/>
          </a:xfrm>
        </p:grpSpPr>
        <p:grpSp>
          <p:nvGrpSpPr>
            <p:cNvPr id="80" name="组合 79"/>
            <p:cNvGrpSpPr/>
            <p:nvPr/>
          </p:nvGrpSpPr>
          <p:grpSpPr>
            <a:xfrm>
              <a:off x="10319" y="1402"/>
              <a:ext cx="1812" cy="1598"/>
              <a:chOff x="10234" y="5569"/>
              <a:chExt cx="1812" cy="1598"/>
            </a:xfrm>
          </p:grpSpPr>
          <p:grpSp>
            <p:nvGrpSpPr>
              <p:cNvPr id="81" name="组合 39"/>
              <p:cNvGrpSpPr/>
              <p:nvPr/>
            </p:nvGrpSpPr>
            <p:grpSpPr>
              <a:xfrm>
                <a:off x="10234" y="5569"/>
                <a:ext cx="1699" cy="1598"/>
                <a:chOff x="5117306" y="2065735"/>
                <a:chExt cx="1453754" cy="1431131"/>
              </a:xfrm>
              <a:solidFill>
                <a:srgbClr val="0053B5"/>
              </a:solidFill>
            </p:grpSpPr>
            <p:sp>
              <p:nvSpPr>
                <p:cNvPr id="82" name="Freeform 17"/>
                <p:cNvSpPr>
                  <a:spLocks noChangeAspect="1"/>
                </p:cNvSpPr>
                <p:nvPr>
                  <p:custDataLst>
                    <p:tags r:id="rId17"/>
                  </p:custDataLst>
                </p:nvPr>
              </p:nvSpPr>
              <p:spPr bwMode="auto">
                <a:xfrm>
                  <a:off x="5117306" y="2065735"/>
                  <a:ext cx="1453754" cy="1431131"/>
                </a:xfrm>
                <a:custGeom>
                  <a:avLst/>
                  <a:gdLst>
                    <a:gd name="T0" fmla="*/ 145 w 145"/>
                    <a:gd name="T1" fmla="*/ 74 h 143"/>
                    <a:gd name="T2" fmla="*/ 133 w 145"/>
                    <a:gd name="T3" fmla="*/ 88 h 143"/>
                    <a:gd name="T4" fmla="*/ 8 w 145"/>
                    <a:gd name="T5" fmla="*/ 143 h 143"/>
                    <a:gd name="T6" fmla="*/ 2 w 145"/>
                    <a:gd name="T7" fmla="*/ 141 h 143"/>
                    <a:gd name="T8" fmla="*/ 0 w 145"/>
                    <a:gd name="T9" fmla="*/ 135 h 143"/>
                    <a:gd name="T10" fmla="*/ 6 w 145"/>
                    <a:gd name="T11" fmla="*/ 108 h 143"/>
                    <a:gd name="T12" fmla="*/ 50 w 145"/>
                    <a:gd name="T13" fmla="*/ 73 h 143"/>
                    <a:gd name="T14" fmla="*/ 21 w 145"/>
                    <a:gd name="T15" fmla="*/ 44 h 143"/>
                    <a:gd name="T16" fmla="*/ 29 w 145"/>
                    <a:gd name="T17" fmla="*/ 8 h 143"/>
                    <a:gd name="T18" fmla="*/ 36 w 145"/>
                    <a:gd name="T19" fmla="*/ 1 h 143"/>
                    <a:gd name="T20" fmla="*/ 44 w 145"/>
                    <a:gd name="T21" fmla="*/ 3 h 143"/>
                    <a:gd name="T22" fmla="*/ 138 w 145"/>
                    <a:gd name="T23" fmla="*/ 61 h 143"/>
                    <a:gd name="T24" fmla="*/ 145 w 145"/>
                    <a:gd name="T25" fmla="*/ 74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45" h="143">
                      <a:moveTo>
                        <a:pt x="145" y="74"/>
                      </a:moveTo>
                      <a:cubicBezTo>
                        <a:pt x="145" y="82"/>
                        <a:pt x="133" y="88"/>
                        <a:pt x="133" y="88"/>
                      </a:cubicBezTo>
                      <a:cubicBezTo>
                        <a:pt x="8" y="143"/>
                        <a:pt x="8" y="143"/>
                        <a:pt x="8" y="143"/>
                      </a:cubicBezTo>
                      <a:cubicBezTo>
                        <a:pt x="8" y="143"/>
                        <a:pt x="4" y="143"/>
                        <a:pt x="2" y="141"/>
                      </a:cubicBezTo>
                      <a:cubicBezTo>
                        <a:pt x="0" y="139"/>
                        <a:pt x="0" y="135"/>
                        <a:pt x="0" y="135"/>
                      </a:cubicBezTo>
                      <a:cubicBezTo>
                        <a:pt x="6" y="108"/>
                        <a:pt x="6" y="108"/>
                        <a:pt x="6" y="108"/>
                      </a:cubicBezTo>
                      <a:cubicBezTo>
                        <a:pt x="6" y="108"/>
                        <a:pt x="50" y="92"/>
                        <a:pt x="50" y="73"/>
                      </a:cubicBezTo>
                      <a:cubicBezTo>
                        <a:pt x="49" y="57"/>
                        <a:pt x="21" y="44"/>
                        <a:pt x="21" y="44"/>
                      </a:cubicBezTo>
                      <a:cubicBezTo>
                        <a:pt x="29" y="8"/>
                        <a:pt x="29" y="8"/>
                        <a:pt x="29" y="8"/>
                      </a:cubicBezTo>
                      <a:cubicBezTo>
                        <a:pt x="29" y="8"/>
                        <a:pt x="31" y="3"/>
                        <a:pt x="36" y="1"/>
                      </a:cubicBezTo>
                      <a:cubicBezTo>
                        <a:pt x="40" y="0"/>
                        <a:pt x="44" y="3"/>
                        <a:pt x="44" y="3"/>
                      </a:cubicBezTo>
                      <a:cubicBezTo>
                        <a:pt x="138" y="61"/>
                        <a:pt x="138" y="61"/>
                        <a:pt x="138" y="61"/>
                      </a:cubicBezTo>
                      <a:cubicBezTo>
                        <a:pt x="138" y="61"/>
                        <a:pt x="145" y="65"/>
                        <a:pt x="145" y="74"/>
                      </a:cubicBezTo>
                      <a:close/>
                    </a:path>
                  </a:pathLst>
                </a:custGeom>
                <a:grpFill/>
                <a:ln w="3175" cap="flat" cmpd="sng" algn="ctr">
                  <a:noFill/>
                  <a:prstDash val="solid"/>
                </a:ln>
                <a:effectLst/>
              </p:spPr>
              <p:txBody>
                <a:bodyPr lIns="91417" tIns="45708" rIns="91417" bIns="45708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endParaRPr lang="zh-CN" altLang="en-US" sz="1065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83" name="Freeform 26"/>
                <p:cNvSpPr>
                  <a:spLocks noChangeAspect="1"/>
                </p:cNvSpPr>
                <p:nvPr>
                  <p:custDataLst>
                    <p:tags r:id="rId18"/>
                  </p:custDataLst>
                </p:nvPr>
              </p:nvSpPr>
              <p:spPr bwMode="auto">
                <a:xfrm>
                  <a:off x="5865019" y="2717007"/>
                  <a:ext cx="182166" cy="189310"/>
                </a:xfrm>
                <a:custGeom>
                  <a:avLst/>
                  <a:gdLst>
                    <a:gd name="T0" fmla="*/ 103 w 274"/>
                    <a:gd name="T1" fmla="*/ 284 h 284"/>
                    <a:gd name="T2" fmla="*/ 80 w 274"/>
                    <a:gd name="T3" fmla="*/ 273 h 284"/>
                    <a:gd name="T4" fmla="*/ 9 w 274"/>
                    <a:gd name="T5" fmla="*/ 178 h 284"/>
                    <a:gd name="T6" fmla="*/ 14 w 274"/>
                    <a:gd name="T7" fmla="*/ 139 h 284"/>
                    <a:gd name="T8" fmla="*/ 53 w 274"/>
                    <a:gd name="T9" fmla="*/ 145 h 284"/>
                    <a:gd name="T10" fmla="*/ 100 w 274"/>
                    <a:gd name="T11" fmla="*/ 207 h 284"/>
                    <a:gd name="T12" fmla="*/ 219 w 274"/>
                    <a:gd name="T13" fmla="*/ 17 h 284"/>
                    <a:gd name="T14" fmla="*/ 257 w 274"/>
                    <a:gd name="T15" fmla="*/ 8 h 284"/>
                    <a:gd name="T16" fmla="*/ 266 w 274"/>
                    <a:gd name="T17" fmla="*/ 47 h 284"/>
                    <a:gd name="T18" fmla="*/ 126 w 274"/>
                    <a:gd name="T19" fmla="*/ 271 h 284"/>
                    <a:gd name="T20" fmla="*/ 104 w 274"/>
                    <a:gd name="T21" fmla="*/ 284 h 284"/>
                    <a:gd name="T22" fmla="*/ 103 w 274"/>
                    <a:gd name="T23" fmla="*/ 284 h 2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74" h="284">
                      <a:moveTo>
                        <a:pt x="103" y="284"/>
                      </a:moveTo>
                      <a:cubicBezTo>
                        <a:pt x="94" y="284"/>
                        <a:pt x="86" y="280"/>
                        <a:pt x="80" y="273"/>
                      </a:cubicBezTo>
                      <a:cubicBezTo>
                        <a:pt x="9" y="178"/>
                        <a:pt x="9" y="178"/>
                        <a:pt x="9" y="178"/>
                      </a:cubicBezTo>
                      <a:cubicBezTo>
                        <a:pt x="0" y="166"/>
                        <a:pt x="2" y="149"/>
                        <a:pt x="14" y="139"/>
                      </a:cubicBezTo>
                      <a:cubicBezTo>
                        <a:pt x="27" y="130"/>
                        <a:pt x="44" y="133"/>
                        <a:pt x="53" y="145"/>
                      </a:cubicBezTo>
                      <a:cubicBezTo>
                        <a:pt x="100" y="207"/>
                        <a:pt x="100" y="207"/>
                        <a:pt x="100" y="207"/>
                      </a:cubicBezTo>
                      <a:cubicBezTo>
                        <a:pt x="219" y="17"/>
                        <a:pt x="219" y="17"/>
                        <a:pt x="219" y="17"/>
                      </a:cubicBezTo>
                      <a:cubicBezTo>
                        <a:pt x="227" y="4"/>
                        <a:pt x="244" y="0"/>
                        <a:pt x="257" y="8"/>
                      </a:cubicBezTo>
                      <a:cubicBezTo>
                        <a:pt x="270" y="16"/>
                        <a:pt x="274" y="33"/>
                        <a:pt x="266" y="47"/>
                      </a:cubicBezTo>
                      <a:cubicBezTo>
                        <a:pt x="126" y="271"/>
                        <a:pt x="126" y="271"/>
                        <a:pt x="126" y="271"/>
                      </a:cubicBezTo>
                      <a:cubicBezTo>
                        <a:pt x="121" y="279"/>
                        <a:pt x="113" y="283"/>
                        <a:pt x="104" y="284"/>
                      </a:cubicBezTo>
                      <a:cubicBezTo>
                        <a:pt x="104" y="284"/>
                        <a:pt x="103" y="284"/>
                        <a:pt x="103" y="28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lIns="91417" tIns="45708" rIns="91417" bIns="45708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en-US" sz="2000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8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19"/>
                </p:custDataLst>
              </p:nvPr>
            </p:nvSpPr>
            <p:spPr bwMode="auto">
              <a:xfrm>
                <a:off x="10913" y="5976"/>
                <a:ext cx="1133" cy="67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en-US" sz="28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02</a:t>
                </a:r>
                <a:endParaRPr lang="en-US" sz="28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85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>
              <p:custDataLst>
                <p:tags r:id="rId20"/>
              </p:custDataLst>
            </p:nvPr>
          </p:nvSpPr>
          <p:spPr bwMode="auto">
            <a:xfrm>
              <a:off x="12278" y="1857"/>
              <a:ext cx="2494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目录</a:t>
              </a:r>
              <a:r>
                <a: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2</a:t>
              </a:r>
              <a:endParaRPr lang="en-US" altLang="zh-CN" sz="2400" b="1" dirty="0">
                <a:solidFill>
                  <a:schemeClr val="bg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3655060" y="3514090"/>
            <a:ext cx="2827655" cy="1014730"/>
            <a:chOff x="10319" y="1402"/>
            <a:chExt cx="4453" cy="1598"/>
          </a:xfrm>
        </p:grpSpPr>
        <p:grpSp>
          <p:nvGrpSpPr>
            <p:cNvPr id="87" name="组合 86"/>
            <p:cNvGrpSpPr/>
            <p:nvPr/>
          </p:nvGrpSpPr>
          <p:grpSpPr>
            <a:xfrm>
              <a:off x="10319" y="1402"/>
              <a:ext cx="1812" cy="1598"/>
              <a:chOff x="10234" y="5569"/>
              <a:chExt cx="1812" cy="1598"/>
            </a:xfrm>
          </p:grpSpPr>
          <p:grpSp>
            <p:nvGrpSpPr>
              <p:cNvPr id="88" name="组合 39"/>
              <p:cNvGrpSpPr/>
              <p:nvPr/>
            </p:nvGrpSpPr>
            <p:grpSpPr>
              <a:xfrm>
                <a:off x="10234" y="5569"/>
                <a:ext cx="1699" cy="1598"/>
                <a:chOff x="5117306" y="2065735"/>
                <a:chExt cx="1453754" cy="1431131"/>
              </a:xfrm>
              <a:solidFill>
                <a:srgbClr val="0053B5"/>
              </a:solidFill>
            </p:grpSpPr>
            <p:sp>
              <p:nvSpPr>
                <p:cNvPr id="89" name="Freeform 17"/>
                <p:cNvSpPr>
                  <a:spLocks noChangeAspect="1"/>
                </p:cNvSpPr>
                <p:nvPr>
                  <p:custDataLst>
                    <p:tags r:id="rId21"/>
                  </p:custDataLst>
                </p:nvPr>
              </p:nvSpPr>
              <p:spPr bwMode="auto">
                <a:xfrm>
                  <a:off x="5117306" y="2065735"/>
                  <a:ext cx="1453754" cy="1431131"/>
                </a:xfrm>
                <a:custGeom>
                  <a:avLst/>
                  <a:gdLst>
                    <a:gd name="T0" fmla="*/ 145 w 145"/>
                    <a:gd name="T1" fmla="*/ 74 h 143"/>
                    <a:gd name="T2" fmla="*/ 133 w 145"/>
                    <a:gd name="T3" fmla="*/ 88 h 143"/>
                    <a:gd name="T4" fmla="*/ 8 w 145"/>
                    <a:gd name="T5" fmla="*/ 143 h 143"/>
                    <a:gd name="T6" fmla="*/ 2 w 145"/>
                    <a:gd name="T7" fmla="*/ 141 h 143"/>
                    <a:gd name="T8" fmla="*/ 0 w 145"/>
                    <a:gd name="T9" fmla="*/ 135 h 143"/>
                    <a:gd name="T10" fmla="*/ 6 w 145"/>
                    <a:gd name="T11" fmla="*/ 108 h 143"/>
                    <a:gd name="T12" fmla="*/ 50 w 145"/>
                    <a:gd name="T13" fmla="*/ 73 h 143"/>
                    <a:gd name="T14" fmla="*/ 21 w 145"/>
                    <a:gd name="T15" fmla="*/ 44 h 143"/>
                    <a:gd name="T16" fmla="*/ 29 w 145"/>
                    <a:gd name="T17" fmla="*/ 8 h 143"/>
                    <a:gd name="T18" fmla="*/ 36 w 145"/>
                    <a:gd name="T19" fmla="*/ 1 h 143"/>
                    <a:gd name="T20" fmla="*/ 44 w 145"/>
                    <a:gd name="T21" fmla="*/ 3 h 143"/>
                    <a:gd name="T22" fmla="*/ 138 w 145"/>
                    <a:gd name="T23" fmla="*/ 61 h 143"/>
                    <a:gd name="T24" fmla="*/ 145 w 145"/>
                    <a:gd name="T25" fmla="*/ 74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45" h="143">
                      <a:moveTo>
                        <a:pt x="145" y="74"/>
                      </a:moveTo>
                      <a:cubicBezTo>
                        <a:pt x="145" y="82"/>
                        <a:pt x="133" y="88"/>
                        <a:pt x="133" y="88"/>
                      </a:cubicBezTo>
                      <a:cubicBezTo>
                        <a:pt x="8" y="143"/>
                        <a:pt x="8" y="143"/>
                        <a:pt x="8" y="143"/>
                      </a:cubicBezTo>
                      <a:cubicBezTo>
                        <a:pt x="8" y="143"/>
                        <a:pt x="4" y="143"/>
                        <a:pt x="2" y="141"/>
                      </a:cubicBezTo>
                      <a:cubicBezTo>
                        <a:pt x="0" y="139"/>
                        <a:pt x="0" y="135"/>
                        <a:pt x="0" y="135"/>
                      </a:cubicBezTo>
                      <a:cubicBezTo>
                        <a:pt x="6" y="108"/>
                        <a:pt x="6" y="108"/>
                        <a:pt x="6" y="108"/>
                      </a:cubicBezTo>
                      <a:cubicBezTo>
                        <a:pt x="6" y="108"/>
                        <a:pt x="50" y="92"/>
                        <a:pt x="50" y="73"/>
                      </a:cubicBezTo>
                      <a:cubicBezTo>
                        <a:pt x="49" y="57"/>
                        <a:pt x="21" y="44"/>
                        <a:pt x="21" y="44"/>
                      </a:cubicBezTo>
                      <a:cubicBezTo>
                        <a:pt x="29" y="8"/>
                        <a:pt x="29" y="8"/>
                        <a:pt x="29" y="8"/>
                      </a:cubicBezTo>
                      <a:cubicBezTo>
                        <a:pt x="29" y="8"/>
                        <a:pt x="31" y="3"/>
                        <a:pt x="36" y="1"/>
                      </a:cubicBezTo>
                      <a:cubicBezTo>
                        <a:pt x="40" y="0"/>
                        <a:pt x="44" y="3"/>
                        <a:pt x="44" y="3"/>
                      </a:cubicBezTo>
                      <a:cubicBezTo>
                        <a:pt x="138" y="61"/>
                        <a:pt x="138" y="61"/>
                        <a:pt x="138" y="61"/>
                      </a:cubicBezTo>
                      <a:cubicBezTo>
                        <a:pt x="138" y="61"/>
                        <a:pt x="145" y="65"/>
                        <a:pt x="145" y="74"/>
                      </a:cubicBezTo>
                      <a:close/>
                    </a:path>
                  </a:pathLst>
                </a:custGeom>
                <a:grpFill/>
                <a:ln w="3175" cap="flat" cmpd="sng" algn="ctr">
                  <a:noFill/>
                  <a:prstDash val="solid"/>
                </a:ln>
                <a:effectLst/>
              </p:spPr>
              <p:txBody>
                <a:bodyPr lIns="91417" tIns="45708" rIns="91417" bIns="45708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/>
                  </a:pPr>
                  <a:endParaRPr lang="zh-CN" altLang="en-US" sz="1065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90" name="Freeform 26"/>
                <p:cNvSpPr>
                  <a:spLocks noChangeAspect="1"/>
                </p:cNvSpPr>
                <p:nvPr>
                  <p:custDataLst>
                    <p:tags r:id="rId22"/>
                  </p:custDataLst>
                </p:nvPr>
              </p:nvSpPr>
              <p:spPr bwMode="auto">
                <a:xfrm>
                  <a:off x="5865019" y="2717007"/>
                  <a:ext cx="182166" cy="189310"/>
                </a:xfrm>
                <a:custGeom>
                  <a:avLst/>
                  <a:gdLst>
                    <a:gd name="T0" fmla="*/ 103 w 274"/>
                    <a:gd name="T1" fmla="*/ 284 h 284"/>
                    <a:gd name="T2" fmla="*/ 80 w 274"/>
                    <a:gd name="T3" fmla="*/ 273 h 284"/>
                    <a:gd name="T4" fmla="*/ 9 w 274"/>
                    <a:gd name="T5" fmla="*/ 178 h 284"/>
                    <a:gd name="T6" fmla="*/ 14 w 274"/>
                    <a:gd name="T7" fmla="*/ 139 h 284"/>
                    <a:gd name="T8" fmla="*/ 53 w 274"/>
                    <a:gd name="T9" fmla="*/ 145 h 284"/>
                    <a:gd name="T10" fmla="*/ 100 w 274"/>
                    <a:gd name="T11" fmla="*/ 207 h 284"/>
                    <a:gd name="T12" fmla="*/ 219 w 274"/>
                    <a:gd name="T13" fmla="*/ 17 h 284"/>
                    <a:gd name="T14" fmla="*/ 257 w 274"/>
                    <a:gd name="T15" fmla="*/ 8 h 284"/>
                    <a:gd name="T16" fmla="*/ 266 w 274"/>
                    <a:gd name="T17" fmla="*/ 47 h 284"/>
                    <a:gd name="T18" fmla="*/ 126 w 274"/>
                    <a:gd name="T19" fmla="*/ 271 h 284"/>
                    <a:gd name="T20" fmla="*/ 104 w 274"/>
                    <a:gd name="T21" fmla="*/ 284 h 284"/>
                    <a:gd name="T22" fmla="*/ 103 w 274"/>
                    <a:gd name="T23" fmla="*/ 284 h 2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274" h="284">
                      <a:moveTo>
                        <a:pt x="103" y="284"/>
                      </a:moveTo>
                      <a:cubicBezTo>
                        <a:pt x="94" y="284"/>
                        <a:pt x="86" y="280"/>
                        <a:pt x="80" y="273"/>
                      </a:cubicBezTo>
                      <a:cubicBezTo>
                        <a:pt x="9" y="178"/>
                        <a:pt x="9" y="178"/>
                        <a:pt x="9" y="178"/>
                      </a:cubicBezTo>
                      <a:cubicBezTo>
                        <a:pt x="0" y="166"/>
                        <a:pt x="2" y="149"/>
                        <a:pt x="14" y="139"/>
                      </a:cubicBezTo>
                      <a:cubicBezTo>
                        <a:pt x="27" y="130"/>
                        <a:pt x="44" y="133"/>
                        <a:pt x="53" y="145"/>
                      </a:cubicBezTo>
                      <a:cubicBezTo>
                        <a:pt x="100" y="207"/>
                        <a:pt x="100" y="207"/>
                        <a:pt x="100" y="207"/>
                      </a:cubicBezTo>
                      <a:cubicBezTo>
                        <a:pt x="219" y="17"/>
                        <a:pt x="219" y="17"/>
                        <a:pt x="219" y="17"/>
                      </a:cubicBezTo>
                      <a:cubicBezTo>
                        <a:pt x="227" y="4"/>
                        <a:pt x="244" y="0"/>
                        <a:pt x="257" y="8"/>
                      </a:cubicBezTo>
                      <a:cubicBezTo>
                        <a:pt x="270" y="16"/>
                        <a:pt x="274" y="33"/>
                        <a:pt x="266" y="47"/>
                      </a:cubicBezTo>
                      <a:cubicBezTo>
                        <a:pt x="126" y="271"/>
                        <a:pt x="126" y="271"/>
                        <a:pt x="126" y="271"/>
                      </a:cubicBezTo>
                      <a:cubicBezTo>
                        <a:pt x="121" y="279"/>
                        <a:pt x="113" y="283"/>
                        <a:pt x="104" y="284"/>
                      </a:cubicBezTo>
                      <a:cubicBezTo>
                        <a:pt x="104" y="284"/>
                        <a:pt x="103" y="284"/>
                        <a:pt x="103" y="28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lIns="91417" tIns="45708" rIns="91417" bIns="45708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/>
                  </a:pPr>
                  <a:endParaRPr lang="en-US" sz="2000" kern="0" dirty="0">
                    <a:solidFill>
                      <a:schemeClr val="lt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91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  <p:cNvSpPr/>
              <p:nvPr>
                <p:custDataLst>
                  <p:tags r:id="rId23"/>
                </p:custDataLst>
              </p:nvPr>
            </p:nvSpPr>
            <p:spPr bwMode="auto">
              <a:xfrm>
                <a:off x="10913" y="5976"/>
                <a:ext cx="1133" cy="67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599" y="0"/>
                    </a:lnTo>
                    <a:lnTo>
                      <a:pt x="21599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wrap="square" lIns="0" tIns="0" rIns="0" bIns="0">
                <a:spAutoFit/>
              </a:bodyPr>
              <a:p>
                <a:pPr algn="l" defTabSz="323850">
                  <a:spcBef>
                    <a:spcPts val="850"/>
                  </a:spcBef>
                </a:pPr>
                <a:r>
                  <a:rPr lang="en-US" sz="28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汉仪旗黑-55简" panose="00020600040101010101" charset="-122"/>
                    <a:cs typeface="+mn-ea"/>
                    <a:sym typeface="+mn-lt"/>
                  </a:rPr>
                  <a:t>03</a:t>
                </a:r>
                <a:endParaRPr lang="en-US" sz="28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9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>
              <p:custDataLst>
                <p:tags r:id="rId24"/>
              </p:custDataLst>
            </p:nvPr>
          </p:nvSpPr>
          <p:spPr bwMode="auto">
            <a:xfrm>
              <a:off x="12278" y="1857"/>
              <a:ext cx="2494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目录</a:t>
              </a:r>
              <a:r>
                <a:rPr lang="en-US" altLang="zh-CN" sz="2400" b="1" dirty="0">
                  <a:solidFill>
                    <a:schemeClr val="bg1"/>
                  </a:solidFill>
                  <a:latin typeface="Arial" panose="020B0604020202090204" pitchFamily="34" charset="0"/>
                  <a:ea typeface="汉仪旗黑-55简" panose="00020600040101010101" charset="-122"/>
                  <a:cs typeface="+mn-ea"/>
                  <a:sym typeface="+mn-lt"/>
                </a:rPr>
                <a:t>3</a:t>
              </a:r>
              <a:endParaRPr lang="en-US" altLang="zh-CN" sz="2400" b="1" dirty="0">
                <a:solidFill>
                  <a:schemeClr val="bg1"/>
                </a:solidFill>
                <a:latin typeface="Arial" panose="020B0604020202090204" pitchFamily="34" charset="0"/>
                <a:ea typeface="汉仪旗黑-55简" panose="00020600040101010101" charset="-122"/>
                <a:cs typeface="+mn-ea"/>
                <a:sym typeface="+mn-lt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6640830" y="4142105"/>
            <a:ext cx="3293745" cy="431800"/>
            <a:chOff x="1803" y="1839"/>
            <a:chExt cx="5187" cy="680"/>
          </a:xfrm>
        </p:grpSpPr>
        <p:sp>
          <p:nvSpPr>
            <p:cNvPr id="98" name="圆角矩形 97"/>
            <p:cNvSpPr/>
            <p:nvPr/>
          </p:nvSpPr>
          <p:spPr>
            <a:xfrm>
              <a:off x="1803" y="1839"/>
              <a:ext cx="5187" cy="680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>
                <a:solidFill>
                  <a:schemeClr val="bg1"/>
                </a:solidFill>
              </a:endParaRPr>
            </a:p>
          </p:txBody>
        </p:sp>
        <p:sp>
          <p:nvSpPr>
            <p:cNvPr id="99" name="矩形 98"/>
            <p:cNvSpPr/>
            <p:nvPr/>
          </p:nvSpPr>
          <p:spPr>
            <a:xfrm>
              <a:off x="1803" y="1839"/>
              <a:ext cx="680" cy="680"/>
            </a:xfrm>
            <a:prstGeom prst="rect">
              <a:avLst/>
            </a:prstGeom>
            <a:gradFill>
              <a:gsLst>
                <a:gs pos="0">
                  <a:srgbClr val="0E1A40"/>
                </a:gs>
                <a:gs pos="100000">
                  <a:srgbClr val="2F5EB0"/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/>
            </a:p>
          </p:txBody>
        </p:sp>
        <p:sp>
          <p:nvSpPr>
            <p:cNvPr id="100" name="文本框 9"/>
            <p:cNvSpPr txBox="1"/>
            <p:nvPr/>
          </p:nvSpPr>
          <p:spPr>
            <a:xfrm>
              <a:off x="1870" y="1896"/>
              <a:ext cx="4864" cy="588"/>
            </a:xfrm>
            <a:prstGeom prst="rect">
              <a:avLst/>
            </a:prstGeom>
            <a:noFill/>
          </p:spPr>
          <p:txBody>
            <a:bodyPr wrap="square" lIns="51422" tIns="25711" rIns="51422" bIns="25711" rtlCol="0">
              <a:spAutoFit/>
            </a:bodyPr>
            <a:p>
              <a:pPr marL="0" lvl="1" algn="l"/>
              <a:r>
                <a:rPr lang="en-US" altLang="zh-CN" sz="2100" dirty="0">
                  <a:solidFill>
                    <a:schemeClr val="bg1"/>
                  </a:solidFill>
                  <a:latin typeface="Impact MT Std" pitchFamily="34" charset="0"/>
                  <a:ea typeface="微软雅黑" panose="020B0502040204020203" pitchFamily="34" charset="-122"/>
                </a:rPr>
                <a:t>01    </a:t>
              </a:r>
              <a:r>
                <a:rPr lang="en-US" altLang="zh-CN" sz="2100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      </a:t>
              </a:r>
              <a:r>
                <a:rPr lang="zh-CN" altLang="en-US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目录</a:t>
              </a:r>
              <a:r>
                <a:rPr lang="en-US" altLang="zh-CN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1</a:t>
              </a:r>
              <a:endParaRPr lang="en-US" altLang="zh-CN" sz="2100" b="1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</a:endParaRPr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6640830" y="4988560"/>
            <a:ext cx="3293745" cy="431800"/>
            <a:chOff x="1803" y="1839"/>
            <a:chExt cx="5187" cy="680"/>
          </a:xfrm>
        </p:grpSpPr>
        <p:sp>
          <p:nvSpPr>
            <p:cNvPr id="102" name="圆角矩形 101"/>
            <p:cNvSpPr/>
            <p:nvPr/>
          </p:nvSpPr>
          <p:spPr>
            <a:xfrm>
              <a:off x="1803" y="1839"/>
              <a:ext cx="5187" cy="680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>
                <a:solidFill>
                  <a:schemeClr val="bg1"/>
                </a:solidFill>
              </a:endParaRPr>
            </a:p>
          </p:txBody>
        </p:sp>
        <p:sp>
          <p:nvSpPr>
            <p:cNvPr id="103" name="矩形 102"/>
            <p:cNvSpPr/>
            <p:nvPr/>
          </p:nvSpPr>
          <p:spPr>
            <a:xfrm>
              <a:off x="1803" y="1839"/>
              <a:ext cx="680" cy="680"/>
            </a:xfrm>
            <a:prstGeom prst="rect">
              <a:avLst/>
            </a:prstGeom>
            <a:gradFill>
              <a:gsLst>
                <a:gs pos="0">
                  <a:srgbClr val="0E1A40"/>
                </a:gs>
                <a:gs pos="100000">
                  <a:srgbClr val="2F5EB0"/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/>
            </a:p>
          </p:txBody>
        </p:sp>
        <p:sp>
          <p:nvSpPr>
            <p:cNvPr id="104" name="文本框 9"/>
            <p:cNvSpPr txBox="1"/>
            <p:nvPr/>
          </p:nvSpPr>
          <p:spPr>
            <a:xfrm>
              <a:off x="1870" y="1896"/>
              <a:ext cx="4864" cy="588"/>
            </a:xfrm>
            <a:prstGeom prst="rect">
              <a:avLst/>
            </a:prstGeom>
            <a:noFill/>
          </p:spPr>
          <p:txBody>
            <a:bodyPr wrap="square" lIns="51422" tIns="25711" rIns="51422" bIns="25711" rtlCol="0">
              <a:spAutoFit/>
            </a:bodyPr>
            <a:p>
              <a:pPr marL="0" lvl="1" algn="l"/>
              <a:r>
                <a:rPr lang="en-US" altLang="zh-CN" sz="2100" dirty="0">
                  <a:solidFill>
                    <a:schemeClr val="bg1"/>
                  </a:solidFill>
                  <a:latin typeface="Impact MT Std" pitchFamily="34" charset="0"/>
                  <a:ea typeface="微软雅黑" panose="020B0502040204020203" pitchFamily="34" charset="-122"/>
                </a:rPr>
                <a:t>01    </a:t>
              </a:r>
              <a:r>
                <a:rPr lang="en-US" altLang="zh-CN" sz="2100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      </a:t>
              </a:r>
              <a:r>
                <a:rPr lang="zh-CN" altLang="en-US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目录</a:t>
              </a:r>
              <a:r>
                <a:rPr lang="en-US" altLang="zh-CN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1</a:t>
              </a:r>
              <a:endParaRPr lang="en-US" altLang="zh-CN" sz="2100" b="1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</a:endParaRPr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6640830" y="5819775"/>
            <a:ext cx="3293745" cy="431800"/>
            <a:chOff x="1803" y="1839"/>
            <a:chExt cx="5187" cy="680"/>
          </a:xfrm>
        </p:grpSpPr>
        <p:sp>
          <p:nvSpPr>
            <p:cNvPr id="106" name="圆角矩形 105"/>
            <p:cNvSpPr/>
            <p:nvPr/>
          </p:nvSpPr>
          <p:spPr>
            <a:xfrm>
              <a:off x="1803" y="1839"/>
              <a:ext cx="5187" cy="680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>
                <a:solidFill>
                  <a:schemeClr val="bg1"/>
                </a:solidFill>
              </a:endParaRPr>
            </a:p>
          </p:txBody>
        </p:sp>
        <p:sp>
          <p:nvSpPr>
            <p:cNvPr id="107" name="矩形 106"/>
            <p:cNvSpPr/>
            <p:nvPr/>
          </p:nvSpPr>
          <p:spPr>
            <a:xfrm>
              <a:off x="1803" y="1839"/>
              <a:ext cx="680" cy="680"/>
            </a:xfrm>
            <a:prstGeom prst="rect">
              <a:avLst/>
            </a:prstGeom>
            <a:gradFill>
              <a:gsLst>
                <a:gs pos="0">
                  <a:srgbClr val="0E1A40"/>
                </a:gs>
                <a:gs pos="100000">
                  <a:srgbClr val="2F5EB0"/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10"/>
            </a:p>
          </p:txBody>
        </p:sp>
        <p:sp>
          <p:nvSpPr>
            <p:cNvPr id="108" name="文本框 9"/>
            <p:cNvSpPr txBox="1"/>
            <p:nvPr/>
          </p:nvSpPr>
          <p:spPr>
            <a:xfrm>
              <a:off x="1870" y="1896"/>
              <a:ext cx="4864" cy="588"/>
            </a:xfrm>
            <a:prstGeom prst="rect">
              <a:avLst/>
            </a:prstGeom>
            <a:noFill/>
          </p:spPr>
          <p:txBody>
            <a:bodyPr wrap="square" lIns="51422" tIns="25711" rIns="51422" bIns="25711" rtlCol="0">
              <a:spAutoFit/>
            </a:bodyPr>
            <a:p>
              <a:pPr marL="0" lvl="1" algn="l"/>
              <a:r>
                <a:rPr lang="en-US" altLang="zh-CN" sz="2100" dirty="0">
                  <a:solidFill>
                    <a:schemeClr val="bg1"/>
                  </a:solidFill>
                  <a:latin typeface="Impact MT Std" pitchFamily="34" charset="0"/>
                  <a:ea typeface="微软雅黑" panose="020B0502040204020203" pitchFamily="34" charset="-122"/>
                </a:rPr>
                <a:t>01    </a:t>
              </a:r>
              <a:r>
                <a:rPr lang="en-US" altLang="zh-CN" sz="2100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      </a:t>
              </a:r>
              <a:r>
                <a:rPr lang="zh-CN" altLang="en-US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目录</a:t>
              </a:r>
              <a:r>
                <a:rPr lang="en-US" altLang="zh-CN" sz="2100" b="1" dirty="0">
                  <a:solidFill>
                    <a:schemeClr val="bg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1</a:t>
              </a:r>
              <a:endParaRPr lang="en-US" altLang="zh-CN" sz="2100" b="1" dirty="0">
                <a:solidFill>
                  <a:schemeClr val="bg1"/>
                </a:solidFill>
                <a:latin typeface="微软雅黑" panose="020B0502040204020203" pitchFamily="34" charset="-122"/>
                <a:ea typeface="微软雅黑" panose="020B0502040204020203" pitchFamily="3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e7d195523061f1c0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 hidden="1"/>
          <p:cNvSpPr txBox="1"/>
          <p:nvPr/>
        </p:nvSpPr>
        <p:spPr>
          <a:xfrm>
            <a:off x="-355600" y="1803400"/>
            <a:ext cx="268022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cs typeface="+mn-ea"/>
                <a:sym typeface="+mn-lt"/>
              </a:rPr>
              <a:t>e7d195523061f1c01ef2b70529884c179423570dbaad84926380ABC1F97BAEF0C8FC051856578EAB7874501A1FFE158C4981707381814BCC4D9A8E3554438DEE4FBCF5A5B4D2A8B0989AB57E8BAC65EB486172191761AFEFAD98399B7F929649E3C9CC3C2EDB05375483D52C873C1D6A323B353A12750684349CA2B1649B470708ACE6AB0C23D190</a:t>
            </a:r>
            <a:endParaRPr lang="zh-CN" altLang="en-US" sz="100">
              <a:cs typeface="+mn-ea"/>
              <a:sym typeface="+mn-lt"/>
            </a:endParaRPr>
          </a:p>
        </p:txBody>
      </p:sp>
      <p:grpSp>
        <p:nvGrpSpPr>
          <p:cNvPr id="40" name="组合 39"/>
          <p:cNvGrpSpPr/>
          <p:nvPr/>
        </p:nvGrpSpPr>
        <p:grpSpPr>
          <a:xfrm rot="0">
            <a:off x="1033145" y="1579245"/>
            <a:ext cx="2516505" cy="2517140"/>
            <a:chOff x="6712" y="404664"/>
            <a:chExt cx="6259809" cy="6259809"/>
          </a:xfrm>
        </p:grpSpPr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2" y="404664"/>
              <a:ext cx="6259809" cy="6259809"/>
            </a:xfrm>
            <a:prstGeom prst="rect">
              <a:avLst/>
            </a:prstGeom>
          </p:spPr>
        </p:pic>
        <p:sp>
          <p:nvSpPr>
            <p:cNvPr id="42" name="文本框 6"/>
            <p:cNvSpPr txBox="1">
              <a:spLocks noChangeArrowheads="1"/>
            </p:cNvSpPr>
            <p:nvPr/>
          </p:nvSpPr>
          <p:spPr bwMode="auto">
            <a:xfrm>
              <a:off x="1653042" y="2155356"/>
              <a:ext cx="2967150" cy="2523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66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2040204020203" pitchFamily="34" charset="-122"/>
                </a:defRPr>
              </a:lvl1pPr>
            </a:lstStyle>
            <a:p>
              <a:pPr algn="ctr"/>
              <a:r>
                <a:rPr lang="en-US" altLang="zh-CN" sz="6000" b="1" dirty="0">
                  <a:effectLst/>
                  <a:latin typeface="+mn-lt"/>
                  <a:ea typeface="+mn-ea"/>
                  <a:cs typeface="+mn-ea"/>
                  <a:sym typeface="+mn-lt"/>
                </a:rPr>
                <a:t>01</a:t>
              </a:r>
              <a:endParaRPr lang="en-US" altLang="zh-CN" sz="6000" b="1" dirty="0"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3549650" y="2717800"/>
            <a:ext cx="1981200" cy="8642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技术平台化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微服务架构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大数据治理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3549650" y="2054225"/>
            <a:ext cx="1583690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FastAPI 架构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5" name="五边形 4"/>
          <p:cNvSpPr/>
          <p:nvPr/>
        </p:nvSpPr>
        <p:spPr>
          <a:xfrm>
            <a:off x="3549650" y="2494915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 rot="0">
            <a:off x="6026150" y="1569085"/>
            <a:ext cx="2516505" cy="2517140"/>
            <a:chOff x="6712" y="404664"/>
            <a:chExt cx="6259809" cy="6259809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2" y="404664"/>
              <a:ext cx="6259809" cy="6259809"/>
            </a:xfrm>
            <a:prstGeom prst="rect">
              <a:avLst/>
            </a:prstGeom>
          </p:spPr>
        </p:pic>
        <p:sp>
          <p:nvSpPr>
            <p:cNvPr id="17" name="文本框 6"/>
            <p:cNvSpPr txBox="1">
              <a:spLocks noChangeArrowheads="1"/>
            </p:cNvSpPr>
            <p:nvPr/>
          </p:nvSpPr>
          <p:spPr bwMode="auto">
            <a:xfrm>
              <a:off x="1653042" y="2155356"/>
              <a:ext cx="2967150" cy="2523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66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2040204020203" pitchFamily="34" charset="-122"/>
                </a:defRPr>
              </a:lvl1pPr>
            </a:lstStyle>
            <a:p>
              <a:pPr algn="ctr"/>
              <a:r>
                <a:rPr lang="en-US" altLang="zh-CN" sz="6000" b="1" dirty="0">
                  <a:effectLst/>
                  <a:latin typeface="+mn-lt"/>
                  <a:ea typeface="+mn-ea"/>
                  <a:cs typeface="+mn-ea"/>
                  <a:sym typeface="+mn-lt"/>
                </a:rPr>
                <a:t>02</a:t>
              </a:r>
              <a:endParaRPr lang="en-US" altLang="zh-CN" sz="6000" b="1" dirty="0"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8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542655" y="2707640"/>
            <a:ext cx="1981200" cy="8642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业务流程优化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业务场景规划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数据特点分析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542655" y="2044065"/>
            <a:ext cx="1583690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LLM 接入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20" name="五边形 19"/>
          <p:cNvSpPr/>
          <p:nvPr/>
        </p:nvSpPr>
        <p:spPr>
          <a:xfrm>
            <a:off x="8542655" y="2484755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 rot="0">
            <a:off x="1033145" y="3882390"/>
            <a:ext cx="2516505" cy="2517140"/>
            <a:chOff x="6712" y="404664"/>
            <a:chExt cx="6259809" cy="6259809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2" y="404664"/>
              <a:ext cx="6259809" cy="6259809"/>
            </a:xfrm>
            <a:prstGeom prst="rect">
              <a:avLst/>
            </a:prstGeom>
          </p:spPr>
        </p:pic>
        <p:sp>
          <p:nvSpPr>
            <p:cNvPr id="23" name="文本框 6"/>
            <p:cNvSpPr txBox="1">
              <a:spLocks noChangeArrowheads="1"/>
            </p:cNvSpPr>
            <p:nvPr/>
          </p:nvSpPr>
          <p:spPr bwMode="auto">
            <a:xfrm>
              <a:off x="1653042" y="2155356"/>
              <a:ext cx="2967150" cy="2523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66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2040204020203" pitchFamily="34" charset="-122"/>
                </a:defRPr>
              </a:lvl1pPr>
            </a:lstStyle>
            <a:p>
              <a:pPr algn="ctr"/>
              <a:r>
                <a:rPr lang="en-US" altLang="zh-CN" sz="6000" b="1" dirty="0">
                  <a:effectLst/>
                  <a:latin typeface="+mn-lt"/>
                  <a:ea typeface="+mn-ea"/>
                  <a:cs typeface="+mn-ea"/>
                  <a:sym typeface="+mn-lt"/>
                </a:rPr>
                <a:t>03</a:t>
              </a:r>
              <a:endParaRPr lang="en-US" altLang="zh-CN" sz="6000" b="1" dirty="0"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2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3549650" y="5020945"/>
            <a:ext cx="1981200" cy="118872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投研一体化平台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组合管理平台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投资决策分析平台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/>
            </a:r>
            <a:endParaRPr lang="en-US" alt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3549650" y="4357370"/>
            <a:ext cx="1583690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Mock 降级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27" name="五边形 26"/>
          <p:cNvSpPr/>
          <p:nvPr/>
        </p:nvSpPr>
        <p:spPr>
          <a:xfrm>
            <a:off x="3549650" y="4798060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 rot="0">
            <a:off x="6026150" y="3872230"/>
            <a:ext cx="2516505" cy="2517140"/>
            <a:chOff x="6712" y="404664"/>
            <a:chExt cx="6259809" cy="6259809"/>
          </a:xfrm>
        </p:grpSpPr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2" y="404664"/>
              <a:ext cx="6259809" cy="6259809"/>
            </a:xfrm>
            <a:prstGeom prst="rect">
              <a:avLst/>
            </a:prstGeom>
          </p:spPr>
        </p:pic>
        <p:sp>
          <p:nvSpPr>
            <p:cNvPr id="33" name="文本框 6"/>
            <p:cNvSpPr txBox="1">
              <a:spLocks noChangeArrowheads="1"/>
            </p:cNvSpPr>
            <p:nvPr/>
          </p:nvSpPr>
          <p:spPr bwMode="auto">
            <a:xfrm>
              <a:off x="1653042" y="2155356"/>
              <a:ext cx="2967150" cy="25235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6600">
                  <a:ln w="38100">
                    <a:noFill/>
                  </a:ln>
                  <a:solidFill>
                    <a:schemeClr val="bg1"/>
                  </a:solidFill>
                  <a:latin typeface="Impact" panose="020B0806030902050204" pitchFamily="34" charset="0"/>
                  <a:ea typeface="微软雅黑" panose="020B0502040204020203" pitchFamily="34" charset="-122"/>
                </a:defRPr>
              </a:lvl1pPr>
            </a:lstStyle>
            <a:p>
              <a:pPr algn="ctr"/>
              <a:r>
                <a:rPr lang="en-US" altLang="zh-CN" sz="6000" b="1" dirty="0">
                  <a:effectLst/>
                  <a:latin typeface="+mn-lt"/>
                  <a:ea typeface="+mn-ea"/>
                  <a:cs typeface="+mn-ea"/>
                  <a:sym typeface="+mn-lt"/>
                </a:rPr>
                <a:t>04</a:t>
              </a:r>
              <a:endParaRPr lang="en-US" altLang="zh-CN" sz="6000" b="1" dirty="0">
                <a:effectLst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4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542655" y="5010785"/>
            <a:ext cx="1981200" cy="8642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差异化分析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个性化开发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sz="1400" dirty="0">
                <a:solidFill>
                  <a:schemeClr val="bg1"/>
                </a:solidFill>
                <a:cs typeface="+mn-ea"/>
                <a:sym typeface="+mn-lt"/>
              </a:rPr>
              <a:t>定制化流程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5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542655" y="4347210"/>
            <a:ext cx="1583690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稳定性保障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37" name="五边形 36"/>
          <p:cNvSpPr/>
          <p:nvPr/>
        </p:nvSpPr>
        <p:spPr>
          <a:xfrm>
            <a:off x="8542655" y="4787900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8" name="组合 37"/>
          <p:cNvGrpSpPr/>
          <p:nvPr/>
        </p:nvGrpSpPr>
        <p:grpSpPr>
          <a:xfrm>
            <a:off x="257810" y="578485"/>
            <a:ext cx="11273790" cy="739775"/>
            <a:chOff x="385" y="958"/>
            <a:chExt cx="17754" cy="1165"/>
          </a:xfrm>
        </p:grpSpPr>
        <p:sp>
          <p:nvSpPr>
            <p:cNvPr id="39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Week4 目标</a:t>
              </a:r>
              <a:endParaRPr 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3" name="直接连接符 42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" name="íṩḷide"/>
          <p:cNvGrpSpPr/>
          <p:nvPr/>
        </p:nvGrpSpPr>
        <p:grpSpPr>
          <a:xfrm rot="0">
            <a:off x="3857625" y="3069590"/>
            <a:ext cx="4476750" cy="1619250"/>
            <a:chOff x="3868401" y="2619360"/>
            <a:chExt cx="4476949" cy="1619283"/>
          </a:xfrm>
        </p:grpSpPr>
        <p:sp>
          <p:nvSpPr>
            <p:cNvPr id="17" name="ïşlîḓé"/>
            <p:cNvSpPr/>
            <p:nvPr/>
          </p:nvSpPr>
          <p:spPr>
            <a:xfrm>
              <a:off x="6147753" y="2619360"/>
              <a:ext cx="2197597" cy="1619283"/>
            </a:xfrm>
            <a:prstGeom prst="homePlate">
              <a:avLst/>
            </a:prstGeom>
            <a:solidFill>
              <a:srgbClr val="004B9F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 anchorCtr="0">
              <a:normAutofit/>
            </a:bodyPr>
            <a:lstStyle/>
            <a:p>
              <a:pPr lvl="0" defTabSz="913765">
                <a:spcBef>
                  <a:spcPct val="0"/>
                </a:spcBef>
                <a:defRPr/>
              </a:pP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îślîḑè"/>
            <p:cNvSpPr/>
            <p:nvPr/>
          </p:nvSpPr>
          <p:spPr>
            <a:xfrm flipH="1">
              <a:off x="3868401" y="2619360"/>
              <a:ext cx="2197597" cy="1619283"/>
            </a:xfrm>
            <a:prstGeom prst="homePlat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anchor="ctr" anchorCtr="0">
              <a:normAutofit/>
            </a:bodyPr>
            <a:lstStyle/>
            <a:p>
              <a:pPr lvl="0" algn="r" defTabSz="913765">
                <a:spcBef>
                  <a:spcPct val="0"/>
                </a:spcBef>
                <a:defRPr/>
              </a:pP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330705" y="2695666"/>
            <a:ext cx="2800604" cy="2891044"/>
            <a:chOff x="1330705" y="2885531"/>
            <a:chExt cx="2800604" cy="2891044"/>
          </a:xfrm>
        </p:grpSpPr>
        <p:sp>
          <p:nvSpPr>
            <p:cNvPr id="19" name="椭圆 18"/>
            <p:cNvSpPr/>
            <p:nvPr/>
          </p:nvSpPr>
          <p:spPr>
            <a:xfrm>
              <a:off x="2158870" y="2885531"/>
              <a:ext cx="752346" cy="752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330705" y="3838535"/>
              <a:ext cx="2800604" cy="1938040"/>
              <a:chOff x="3704311" y="1674823"/>
              <a:chExt cx="2800604" cy="1938040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3704311" y="2136488"/>
                <a:ext cx="2244073" cy="14763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【前端直连大模型】
· 密钥暴露风险极高
· 无法做请求限流管控
· 跨域问题难以优雅解决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
【服务端代理层 (API)】
· 保护 API Key 等敏感信息
· 统一接口，方便切换模型引擎
· 支持增加缓存和 Mock 策略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3706850" y="1674823"/>
                <a:ext cx="279806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cs typeface="+mn-ea"/>
                    <a:sym typeface="+mn-lt"/>
                  </a:rPr>
                  <a:t>直接调用 vs 服务端代理</a:t>
                </a:r>
                <a:endParaRPr lang="zh-CN" altLang="en-US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7" name="组合 26"/>
          <p:cNvGrpSpPr/>
          <p:nvPr/>
        </p:nvGrpSpPr>
        <p:grpSpPr>
          <a:xfrm>
            <a:off x="8617224" y="2712059"/>
            <a:ext cx="2800604" cy="2643511"/>
            <a:chOff x="8617224" y="2901924"/>
            <a:chExt cx="2800604" cy="2643511"/>
          </a:xfrm>
        </p:grpSpPr>
        <p:sp>
          <p:nvSpPr>
            <p:cNvPr id="21" name="椭圆 20"/>
            <p:cNvSpPr/>
            <p:nvPr/>
          </p:nvSpPr>
          <p:spPr>
            <a:xfrm>
              <a:off x="9280783" y="2901924"/>
              <a:ext cx="752347" cy="752347"/>
            </a:xfrm>
            <a:prstGeom prst="ellipse">
              <a:avLst/>
            </a:prstGeom>
            <a:solidFill>
              <a:srgbClr val="004B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8617224" y="3838535"/>
              <a:ext cx="2800604" cy="1706900"/>
              <a:chOff x="3704311" y="1674823"/>
              <a:chExt cx="2800604" cy="1706900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3704311" y="2136488"/>
                <a:ext cx="2244073" cy="12452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【前端直连大模型】
· 密钥暴露风险极高
· 无法做请求限流管控
· 跨域问题难以优雅解决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3706850" y="1674823"/>
                <a:ext cx="279806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cs typeface="+mn-ea"/>
                    <a:sym typeface="+mn-lt"/>
                  </a:rPr>
                  <a:t>直接调用 vs 服务端代理</a:t>
                </a:r>
                <a:endParaRPr lang="en-US" altLang="zh-CN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10" name="文本框 9"/>
          <p:cNvSpPr txBox="1"/>
          <p:nvPr/>
        </p:nvSpPr>
        <p:spPr>
          <a:xfrm>
            <a:off x="4954905" y="3649345"/>
            <a:ext cx="896620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zh-CN" altLang="en-US" b="1" dirty="0">
                <a:solidFill>
                  <a:srgbClr val="08112D"/>
                </a:solidFill>
                <a:cs typeface="+mn-ea"/>
                <a:sym typeface="+mn-lt"/>
              </a:rPr>
              <a:t>标题</a:t>
            </a:r>
            <a:endParaRPr lang="zh-CN" altLang="en-US" b="1" dirty="0">
              <a:solidFill>
                <a:srgbClr val="08112D"/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337935" y="3649345"/>
            <a:ext cx="896620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标题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257810" y="563880"/>
            <a:ext cx="11273790" cy="739775"/>
            <a:chOff x="385" y="958"/>
            <a:chExt cx="17754" cy="1165"/>
          </a:xfrm>
        </p:grpSpPr>
        <p:sp>
          <p:nvSpPr>
            <p:cNvPr id="43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b="1" dirty="0">
                  <a:solidFill>
                    <a:schemeClr val="bg1"/>
                  </a:solidFill>
                  <a:cs typeface="+mn-ea"/>
                  <a:sym typeface="+mn-lt"/>
                </a:rPr>
                <a:t>系统高可用架构</a:t>
              </a:r>
              <a:endParaRPr lang="zh-CN" alt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片2-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e7d195523061f1c0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 hidden="1"/>
          <p:cNvSpPr txBox="1"/>
          <p:nvPr/>
        </p:nvSpPr>
        <p:spPr>
          <a:xfrm>
            <a:off x="-355600" y="1803400"/>
            <a:ext cx="268022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cs typeface="+mn-ea"/>
                <a:sym typeface="+mn-lt"/>
              </a:rPr>
              <a:t>e7d195523061f1c01ef2b70529884c179423570dbaad84926380ABC1F97BAEF0C8FC051856578EAB7874501A1FFE158C4981707381814BCC4D9A8E3554438DEE4FBCF5A5B4D2A8B0989AB57E8BAC65EB486172191761AFEFAD98399B7F929649E3C9CC3C2EDB05375483D52C873C1D6A323B353A12750684349CA2B1649B470708ACE6AB0C23D190</a:t>
            </a:r>
            <a:endParaRPr lang="zh-CN" altLang="en-US" sz="100">
              <a:cs typeface="+mn-ea"/>
              <a:sym typeface="+mn-lt"/>
            </a:endParaRPr>
          </a:p>
        </p:txBody>
      </p:sp>
      <p:sp>
        <p:nvSpPr>
          <p:cNvPr id="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1022350" y="3256915"/>
            <a:ext cx="2927985" cy="27686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sz="1800" b="1" dirty="0">
                <a:solidFill>
                  <a:schemeClr val="bg1"/>
                </a:solidFill>
                <a:cs typeface="+mn-ea"/>
                <a:sym typeface="+mn-lt"/>
              </a:rPr>
              <a:t>/generate 路由</a:t>
            </a:r>
            <a:endParaRPr lang="zh-CN" altLang="es-ES" sz="1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688340" y="2278380"/>
            <a:ext cx="2927985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Pydantic 校验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9" name="五边形 8"/>
          <p:cNvSpPr/>
          <p:nvPr/>
        </p:nvSpPr>
        <p:spPr>
          <a:xfrm>
            <a:off x="688340" y="2719070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 descr="shua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340" y="3264535"/>
            <a:ext cx="262255" cy="262255"/>
          </a:xfrm>
          <a:prstGeom prst="rect">
            <a:avLst/>
          </a:prstGeom>
        </p:spPr>
      </p:pic>
      <p:sp>
        <p:nvSpPr>
          <p:cNvPr id="1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48360" y="3703955"/>
            <a:ext cx="2927985" cy="118872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Rectangle 24"/>
          <p:cNvSpPr>
            <a:spLocks noChangeArrowheads="1"/>
          </p:cNvSpPr>
          <p:nvPr/>
        </p:nvSpPr>
        <p:spPr bwMode="auto">
          <a:xfrm>
            <a:off x="3258185" y="3264535"/>
            <a:ext cx="4393565" cy="645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r>
              <a:rPr lang="zh-CN" altLang="en-US" sz="1050" dirty="0">
                <a:solidFill>
                  <a:schemeClr val="bg1"/>
                </a:solidFill>
                <a:cs typeface="+mn-ea"/>
                <a:sym typeface="+mn-lt"/>
              </a:rPr>
              <a:t>@app.post("/generate")
async def generate_ui(req: GenerateRequest):
    try:
        spec = await llm.generate_spec(req.prompt)
        return {"code": 0, "data": spec}
    except Exception as e:
        return mock_generate(req.prompt)</a:t>
            </a:r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r>
              <a:rPr lang="zh-CN" altLang="en-US" sz="1050" dirty="0">
                <a:solidFill>
                  <a:schemeClr val="bg1"/>
                </a:solidFill>
                <a:cs typeface="+mn-ea"/>
                <a:sym typeface="+mn-lt"/>
              </a:rPr>
              <a:t>
· 定义强类型的请求体
· 主干逻辑尝试调用 AI
· 异常时静默降级为 Mock 数据</a:t>
            </a:r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57810" y="854075"/>
            <a:ext cx="11273790" cy="739775"/>
            <a:chOff x="385" y="958"/>
            <a:chExt cx="17754" cy="1165"/>
          </a:xfrm>
        </p:grpSpPr>
        <p:sp>
          <p:nvSpPr>
            <p:cNvPr id="2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FastAPI 接口设计</a:t>
              </a:r>
              <a:endParaRPr 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图片 23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" name="íṩḷide"/>
          <p:cNvGrpSpPr/>
          <p:nvPr/>
        </p:nvGrpSpPr>
        <p:grpSpPr>
          <a:xfrm rot="0">
            <a:off x="3857625" y="3069590"/>
            <a:ext cx="4476750" cy="1619250"/>
            <a:chOff x="3868401" y="2619360"/>
            <a:chExt cx="4476949" cy="1619283"/>
          </a:xfrm>
        </p:grpSpPr>
        <p:sp>
          <p:nvSpPr>
            <p:cNvPr id="17" name="ïşlîḓé"/>
            <p:cNvSpPr/>
            <p:nvPr/>
          </p:nvSpPr>
          <p:spPr>
            <a:xfrm>
              <a:off x="6147753" y="2619360"/>
              <a:ext cx="2197597" cy="1619283"/>
            </a:xfrm>
            <a:prstGeom prst="homePlate">
              <a:avLst/>
            </a:prstGeom>
            <a:solidFill>
              <a:srgbClr val="004B9F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 anchorCtr="0">
              <a:normAutofit/>
            </a:bodyPr>
            <a:lstStyle/>
            <a:p>
              <a:pPr lvl="0" defTabSz="913765">
                <a:spcBef>
                  <a:spcPct val="0"/>
                </a:spcBef>
                <a:defRPr/>
              </a:pP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îślîḑè"/>
            <p:cNvSpPr/>
            <p:nvPr/>
          </p:nvSpPr>
          <p:spPr>
            <a:xfrm flipH="1">
              <a:off x="3868401" y="2619360"/>
              <a:ext cx="2197597" cy="1619283"/>
            </a:xfrm>
            <a:prstGeom prst="homePlat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anchor="ctr" anchorCtr="0">
              <a:normAutofit/>
            </a:bodyPr>
            <a:lstStyle/>
            <a:p>
              <a:pPr lvl="0" algn="r" defTabSz="913765">
                <a:spcBef>
                  <a:spcPct val="0"/>
                </a:spcBef>
                <a:defRPr/>
              </a:pP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330705" y="2695666"/>
            <a:ext cx="2800604" cy="2891044"/>
            <a:chOff x="1330705" y="2885531"/>
            <a:chExt cx="2800604" cy="2891044"/>
          </a:xfrm>
        </p:grpSpPr>
        <p:sp>
          <p:nvSpPr>
            <p:cNvPr id="19" name="椭圆 18"/>
            <p:cNvSpPr/>
            <p:nvPr/>
          </p:nvSpPr>
          <p:spPr>
            <a:xfrm>
              <a:off x="2158870" y="2885531"/>
              <a:ext cx="752346" cy="7523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330705" y="3838535"/>
              <a:ext cx="2800604" cy="1938040"/>
              <a:chOff x="3704311" y="1674823"/>
              <a:chExt cx="2800604" cy="1938040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3704311" y="2136488"/>
                <a:ext cx="2244073" cy="14763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【硬编码兜底】
· 只返回固定的一套表单
· 用户体验割裂
· 无法响应业务提示词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
【规则引擎降级】
· 根据 Prompt 关键词正则匹配
· 动态拼装预设字段 (如手机号)
· 体验平滑，用户感知不到异常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3706850" y="1674823"/>
                <a:ext cx="279806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cs typeface="+mn-ea"/>
                    <a:sym typeface="+mn-lt"/>
                  </a:rPr>
                  <a:t>硬编码 vs 规则引擎</a:t>
                </a:r>
                <a:endParaRPr lang="zh-CN" altLang="en-US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7" name="组合 26"/>
          <p:cNvGrpSpPr/>
          <p:nvPr/>
        </p:nvGrpSpPr>
        <p:grpSpPr>
          <a:xfrm>
            <a:off x="8617224" y="2712059"/>
            <a:ext cx="2800604" cy="2643511"/>
            <a:chOff x="8617224" y="2901924"/>
            <a:chExt cx="2800604" cy="2643511"/>
          </a:xfrm>
        </p:grpSpPr>
        <p:sp>
          <p:nvSpPr>
            <p:cNvPr id="21" name="椭圆 20"/>
            <p:cNvSpPr/>
            <p:nvPr/>
          </p:nvSpPr>
          <p:spPr>
            <a:xfrm>
              <a:off x="9280783" y="2901924"/>
              <a:ext cx="752347" cy="752347"/>
            </a:xfrm>
            <a:prstGeom prst="ellipse">
              <a:avLst/>
            </a:prstGeom>
            <a:solidFill>
              <a:srgbClr val="004B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8617224" y="3838535"/>
              <a:ext cx="2800604" cy="1706900"/>
              <a:chOff x="3704311" y="1674823"/>
              <a:chExt cx="2800604" cy="1706900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3704311" y="2136488"/>
                <a:ext cx="2244073" cy="12452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bg1"/>
                    </a:solidFill>
                    <a:cs typeface="+mn-ea"/>
                    <a:sym typeface="+mn-lt"/>
                  </a:rPr>
                  <a:t>【硬编码兜底】
· 只返回固定的一套表单
· 用户体验割裂
· 无法响应业务提示词</a:t>
                </a: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10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3706850" y="1674823"/>
                <a:ext cx="279806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cs typeface="+mn-ea"/>
                    <a:sym typeface="+mn-lt"/>
                  </a:rPr>
                  <a:t>硬编码 vs 规则引擎</a:t>
                </a:r>
                <a:endParaRPr lang="en-US" altLang="zh-CN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10" name="文本框 9"/>
          <p:cNvSpPr txBox="1"/>
          <p:nvPr/>
        </p:nvSpPr>
        <p:spPr>
          <a:xfrm>
            <a:off x="4954905" y="3649345"/>
            <a:ext cx="896620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zh-CN" altLang="en-US" b="1" dirty="0">
                <a:solidFill>
                  <a:srgbClr val="08112D"/>
                </a:solidFill>
                <a:cs typeface="+mn-ea"/>
                <a:sym typeface="+mn-lt"/>
              </a:rPr>
              <a:t>标题</a:t>
            </a:r>
            <a:endParaRPr lang="zh-CN" altLang="en-US" b="1" dirty="0">
              <a:solidFill>
                <a:srgbClr val="08112D"/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337935" y="3649345"/>
            <a:ext cx="896620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标题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257810" y="563880"/>
            <a:ext cx="11273790" cy="739775"/>
            <a:chOff x="385" y="958"/>
            <a:chExt cx="17754" cy="1165"/>
          </a:xfrm>
        </p:grpSpPr>
        <p:sp>
          <p:nvSpPr>
            <p:cNvPr id="43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b="1" dirty="0">
                  <a:solidFill>
                    <a:schemeClr val="bg1"/>
                  </a:solidFill>
                  <a:cs typeface="+mn-ea"/>
                  <a:sym typeface="+mn-lt"/>
                </a:rPr>
                <a:t>Mock 降级策略</a:t>
              </a:r>
              <a:endParaRPr lang="zh-CN" alt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片2-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15" r="21323" b="1826"/>
          <a:stretch>
            <a:fillRect/>
          </a:stretch>
        </p:blipFill>
        <p:spPr>
          <a:xfrm rot="16200000" flipV="1">
            <a:off x="9027795" y="1969770"/>
            <a:ext cx="2227580" cy="33401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15" r="21323" b="1826"/>
          <a:stretch>
            <a:fillRect/>
          </a:stretch>
        </p:blipFill>
        <p:spPr>
          <a:xfrm rot="16200000" flipV="1">
            <a:off x="4995545" y="1969135"/>
            <a:ext cx="2227580" cy="33401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15" r="21323" b="1826"/>
          <a:stretch>
            <a:fillRect/>
          </a:stretch>
        </p:blipFill>
        <p:spPr>
          <a:xfrm rot="16200000" flipV="1">
            <a:off x="1081405" y="1969135"/>
            <a:ext cx="2227580" cy="33401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407368" y="3346977"/>
            <a:ext cx="3574248" cy="2239158"/>
            <a:chOff x="839416" y="3097665"/>
            <a:chExt cx="3574248" cy="2239158"/>
          </a:xfrm>
        </p:grpSpPr>
        <p:sp>
          <p:nvSpPr>
            <p:cNvPr id="8" name="文本框 7"/>
            <p:cNvSpPr txBox="1"/>
            <p:nvPr/>
          </p:nvSpPr>
          <p:spPr>
            <a:xfrm>
              <a:off x="1495939" y="3097665"/>
              <a:ext cx="2261202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坑1 · 超时阻塞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839416" y="4729128"/>
              <a:ext cx="3574248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s-E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LLM 请求往往在 10s 以上，必须设置 Timeout 并尽早降级，防止前端假死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322463" y="3313689"/>
            <a:ext cx="3574248" cy="2239158"/>
            <a:chOff x="839416" y="3097665"/>
            <a:chExt cx="3574248" cy="2239158"/>
          </a:xfrm>
        </p:grpSpPr>
        <p:sp>
          <p:nvSpPr>
            <p:cNvPr id="25" name="文本框 24"/>
            <p:cNvSpPr txBox="1"/>
            <p:nvPr/>
          </p:nvSpPr>
          <p:spPr>
            <a:xfrm>
              <a:off x="1495939" y="3097665"/>
              <a:ext cx="2261202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坑2 · JSON 解析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39416" y="4729128"/>
              <a:ext cx="3574248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s-E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大模型返回的未必是纯 JSON，可能有 Markdown 代码块包裹，必须清洗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8354911" y="3313689"/>
            <a:ext cx="3574248" cy="2239158"/>
            <a:chOff x="839416" y="3097665"/>
            <a:chExt cx="3574248" cy="2239158"/>
          </a:xfrm>
        </p:grpSpPr>
        <p:sp>
          <p:nvSpPr>
            <p:cNvPr id="29" name="文本框 28"/>
            <p:cNvSpPr txBox="1"/>
            <p:nvPr/>
          </p:nvSpPr>
          <p:spPr>
            <a:xfrm>
              <a:off x="1495939" y="3097665"/>
              <a:ext cx="2261202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坑3 · 跨域问题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39416" y="4729128"/>
              <a:ext cx="3574248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s-E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前后端分离部署时，FastAPI 必须正确配置 CORS 允许前端端口访问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57810" y="563880"/>
            <a:ext cx="11273790" cy="739775"/>
            <a:chOff x="385" y="958"/>
            <a:chExt cx="17754" cy="1165"/>
          </a:xfrm>
        </p:grpSpPr>
        <p:sp>
          <p:nvSpPr>
            <p:cNvPr id="43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b="1" dirty="0">
                  <a:solidFill>
                    <a:schemeClr val="bg1"/>
                  </a:solidFill>
                  <a:cs typeface="+mn-ea"/>
                  <a:sym typeface="+mn-lt"/>
                </a:rPr>
                <a:t>避坑指南</a:t>
              </a:r>
              <a:endParaRPr lang="zh-CN" alt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15" r="21323" b="1826"/>
          <a:stretch>
            <a:fillRect/>
          </a:stretch>
        </p:blipFill>
        <p:spPr>
          <a:xfrm rot="16200000" flipV="1">
            <a:off x="9027795" y="1969770"/>
            <a:ext cx="2227580" cy="33401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15" r="21323" b="1826"/>
          <a:stretch>
            <a:fillRect/>
          </a:stretch>
        </p:blipFill>
        <p:spPr>
          <a:xfrm rot="16200000" flipV="1">
            <a:off x="4995545" y="1969135"/>
            <a:ext cx="2227580" cy="33401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4" t="5715" r="21323" b="1826"/>
          <a:stretch>
            <a:fillRect/>
          </a:stretch>
        </p:blipFill>
        <p:spPr>
          <a:xfrm rot="16200000" flipV="1">
            <a:off x="1081405" y="1969135"/>
            <a:ext cx="2227580" cy="334010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407368" y="3346977"/>
            <a:ext cx="3574248" cy="2239158"/>
            <a:chOff x="839416" y="3097665"/>
            <a:chExt cx="3574248" cy="2239158"/>
          </a:xfrm>
        </p:grpSpPr>
        <p:sp>
          <p:nvSpPr>
            <p:cNvPr id="8" name="文本框 7"/>
            <p:cNvSpPr txBox="1"/>
            <p:nvPr/>
          </p:nvSpPr>
          <p:spPr>
            <a:xfrm>
              <a:off x="1495939" y="3097665"/>
              <a:ext cx="2261202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Step 1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839416" y="4729128"/>
              <a:ext cx="3574248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s-E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使用 FastAPI 搭建后端服务，配置跨域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322463" y="3313689"/>
            <a:ext cx="3574248" cy="2239158"/>
            <a:chOff x="839416" y="3097665"/>
            <a:chExt cx="3574248" cy="2239158"/>
          </a:xfrm>
        </p:grpSpPr>
        <p:sp>
          <p:nvSpPr>
            <p:cNvPr id="25" name="文本框 24"/>
            <p:cNvSpPr txBox="1"/>
            <p:nvPr/>
          </p:nvSpPr>
          <p:spPr>
            <a:xfrm>
              <a:off x="1495939" y="3097665"/>
              <a:ext cx="2261202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Step 2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839416" y="4729128"/>
              <a:ext cx="3574248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s-E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实现大模型请求服务，并编写 Mock 降级引擎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8354911" y="3313689"/>
            <a:ext cx="3574248" cy="2239158"/>
            <a:chOff x="839416" y="3097665"/>
            <a:chExt cx="3574248" cy="2239158"/>
          </a:xfrm>
        </p:grpSpPr>
        <p:sp>
          <p:nvSpPr>
            <p:cNvPr id="29" name="文本框 28"/>
            <p:cNvSpPr txBox="1"/>
            <p:nvPr/>
          </p:nvSpPr>
          <p:spPr>
            <a:xfrm>
              <a:off x="1495939" y="3097665"/>
              <a:ext cx="2261202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cs typeface="+mn-ea"/>
                  <a:sym typeface="+mn-lt"/>
                </a:rPr>
                <a:t>Step 3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39416" y="4729128"/>
              <a:ext cx="3574248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23215">
                <a:lnSpc>
                  <a:spcPct val="120000"/>
                </a:lnSpc>
                <a:spcBef>
                  <a:spcPts val="850"/>
                </a:spcBef>
              </a:pPr>
              <a:r>
                <a:rPr lang="es-E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前后端联调，模拟断网测试降级体验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57810" y="563880"/>
            <a:ext cx="11273790" cy="739775"/>
            <a:chOff x="385" y="958"/>
            <a:chExt cx="17754" cy="1165"/>
          </a:xfrm>
        </p:grpSpPr>
        <p:sp>
          <p:nvSpPr>
            <p:cNvPr id="43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zh-CN" altLang="es-ES" b="1" dirty="0">
                  <a:solidFill>
                    <a:schemeClr val="bg1"/>
                  </a:solidFill>
                  <a:cs typeface="+mn-ea"/>
                  <a:sym typeface="+mn-lt"/>
                </a:rPr>
                <a:t>实战任务</a:t>
              </a:r>
              <a:endParaRPr lang="zh-CN" alt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e7d195523061f1c0" descr="e7d195523061f1c01ef2b70529884c179423570dbaad84926380ABC1F97BAEF0C8FC051856578EAB7874501A1FFE158C4981707381814BCC4D9A8E3554438DEE4FBCF5A5B4D2A8B0989AB57E8BAC65EB486172191761AFEFAD98399B7F929649E3C9CC3C2EDB05375483D52C873C1D6A323B353A12750684349CA2B1649B470708ACE6AB0C23D190" hidden="1"/>
          <p:cNvSpPr txBox="1"/>
          <p:nvPr/>
        </p:nvSpPr>
        <p:spPr>
          <a:xfrm>
            <a:off x="-355600" y="1803400"/>
            <a:ext cx="268022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cs typeface="+mn-ea"/>
                <a:sym typeface="+mn-lt"/>
              </a:rPr>
              <a:t>e7d195523061f1c01ef2b70529884c179423570dbaad84926380ABC1F97BAEF0C8FC051856578EAB7874501A1FFE158C4981707381814BCC4D9A8E3554438DEE4FBCF5A5B4D2A8B0989AB57E8BAC65EB486172191761AFEFAD98399B7F929649E3C9CC3C2EDB05375483D52C873C1D6A323B353A12750684349CA2B1649B470708ACE6AB0C23D190</a:t>
            </a:r>
            <a:endParaRPr lang="zh-CN" altLang="en-US" sz="100">
              <a:cs typeface="+mn-ea"/>
              <a:sym typeface="+mn-lt"/>
            </a:endParaRPr>
          </a:p>
        </p:txBody>
      </p:sp>
      <p:sp>
        <p:nvSpPr>
          <p:cNvPr id="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1022350" y="3256915"/>
            <a:ext cx="2927985" cy="27686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sz="1800" b="1" dirty="0">
                <a:solidFill>
                  <a:schemeClr val="bg1"/>
                </a:solidFill>
                <a:cs typeface="+mn-ea"/>
                <a:sym typeface="+mn-lt"/>
              </a:rPr>
              <a:t>下周预告</a:t>
            </a:r>
            <a:endParaRPr lang="zh-CN" altLang="es-ES" sz="1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688340" y="2278380"/>
            <a:ext cx="2927985" cy="36893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zh-CN" altLang="es-ES" b="1" dirty="0">
                <a:solidFill>
                  <a:schemeClr val="bg1"/>
                </a:solidFill>
                <a:latin typeface="Microsoft YaHei Bold" panose="020B0502040204020203" charset="-122"/>
                <a:ea typeface="Microsoft YaHei Bold" panose="020B0502040204020203" charset="-122"/>
                <a:cs typeface="+mn-ea"/>
                <a:sym typeface="+mn-lt"/>
              </a:rPr>
              <a:t>本周成就</a:t>
            </a:r>
            <a:endParaRPr lang="zh-CN" altLang="es-ES" b="1" dirty="0">
              <a:solidFill>
                <a:schemeClr val="bg1"/>
              </a:solidFill>
              <a:latin typeface="Microsoft YaHei Bold" panose="020B0502040204020203" charset="-122"/>
              <a:ea typeface="Microsoft YaHei Bold" panose="020B0502040204020203" charset="-122"/>
              <a:cs typeface="+mn-ea"/>
              <a:sym typeface="+mn-lt"/>
            </a:endParaRPr>
          </a:p>
        </p:txBody>
      </p:sp>
      <p:sp>
        <p:nvSpPr>
          <p:cNvPr id="9" name="五边形 8"/>
          <p:cNvSpPr/>
          <p:nvPr/>
        </p:nvSpPr>
        <p:spPr>
          <a:xfrm>
            <a:off x="688340" y="2719070"/>
            <a:ext cx="1981200" cy="36000"/>
          </a:xfrm>
          <a:prstGeom prst="homePlate">
            <a:avLst/>
          </a:prstGeom>
          <a:solidFill>
            <a:srgbClr val="0978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 descr="shua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340" y="3264535"/>
            <a:ext cx="262255" cy="262255"/>
          </a:xfrm>
          <a:prstGeom prst="rect">
            <a:avLst/>
          </a:prstGeom>
        </p:spPr>
      </p:pic>
      <p:sp>
        <p:nvSpPr>
          <p:cNvPr id="16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<p:cNvSpPr/>
          <p:nvPr/>
        </p:nvSpPr>
        <p:spPr bwMode="auto">
          <a:xfrm>
            <a:off x="848360" y="3703955"/>
            <a:ext cx="2927985" cy="118872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·  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  <a:r>
              <a:rPr lang="zh-CN" altLang="es-ES" sz="1400" dirty="0">
                <a:solidFill>
                  <a:schemeClr val="bg1"/>
                </a:solidFill>
                <a:cs typeface="+mn-ea"/>
                <a:sym typeface="+mn-lt"/>
              </a:rPr>
              <a:t>级小标题</a:t>
            </a: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 defTabSz="323850">
              <a:spcBef>
                <a:spcPts val="850"/>
              </a:spcBef>
            </a:pPr>
            <a:endParaRPr lang="zh-CN" altLang="es-E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Rectangle 24"/>
          <p:cNvSpPr>
            <a:spLocks noChangeArrowheads="1"/>
          </p:cNvSpPr>
          <p:nvPr/>
        </p:nvSpPr>
        <p:spPr bwMode="auto">
          <a:xfrm>
            <a:off x="3258185" y="3264535"/>
            <a:ext cx="4393565" cy="645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r>
              <a:rPr lang="zh-CN" altLang="en-US" sz="1050" dirty="0">
                <a:solidFill>
                  <a:schemeClr val="bg1"/>
                </a:solidFill>
                <a:cs typeface="+mn-ea"/>
                <a:sym typeface="+mn-lt"/>
              </a:rPr>
              <a:t>✓ FastAPI 后端搭建
✓ 大模型接口集成
✓ 智能规则 Mock 引擎
✓ JSON 字符串清洗
✓ 全局异常兜底架构</a:t>
            </a:r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r>
              <a:rPr lang="zh-CN" altLang="en-US" sz="1050" dirty="0">
                <a:solidFill>
                  <a:schemeClr val="bg1"/>
                </a:solidFill>
                <a:cs typeface="+mn-ea"/>
                <a:sym typeface="+mn-lt"/>
              </a:rPr>
              <a:t>
【下周预告】
· 提示词结构化设计
· Few-Shot 实战
· 完整项目闭环验收</a:t>
            </a:r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  <a:p>
            <a:endParaRPr lang="zh-CN" altLang="en-US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57810" y="854075"/>
            <a:ext cx="11273790" cy="739775"/>
            <a:chOff x="385" y="958"/>
            <a:chExt cx="17754" cy="1165"/>
          </a:xfrm>
        </p:grpSpPr>
        <p:sp>
          <p:nvSpPr>
            <p:cNvPr id="22" name="AutoShape 28" descr="e7d195523061f1c01ef2b70529884c179423570dbaad84926380ABC1F97BAEF0C8FC051856578EAB7874501A1FFE158C4981707381814BCC4D9A8E3554438DEE4FBCF5A5B4D2A8B0989AB57E8BAC65EB8D0E6BC1998F2CEEE3D0AF65317FDA2B0BE79331EE6B078B1DD294191E0157E2A3DDC6FD940B31DEEB9F1DD2CE750A252BFA5CAB1B1FA84D"/>
            <p:cNvSpPr/>
            <p:nvPr/>
          </p:nvSpPr>
          <p:spPr bwMode="auto">
            <a:xfrm>
              <a:off x="1141" y="958"/>
              <a:ext cx="4611" cy="58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p>
              <a:pPr algn="l" defTabSz="323850">
                <a:spcBef>
                  <a:spcPts val="850"/>
                </a:spcBef>
              </a:pPr>
              <a:r>
                <a:rPr lang="es-ES" b="1" dirty="0">
                  <a:solidFill>
                    <a:schemeClr val="bg1"/>
                  </a:solidFill>
                  <a:cs typeface="+mn-ea"/>
                  <a:sym typeface="+mn-lt"/>
                </a:rPr>
                <a:t>本周能力树 · 总结</a:t>
              </a:r>
              <a:endParaRPr lang="es-E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385" y="2043"/>
              <a:ext cx="17754" cy="0"/>
            </a:xfrm>
            <a:prstGeom prst="line">
              <a:avLst/>
            </a:prstGeom>
            <a:ln w="12700">
              <a:gradFill flip="none" rotWithShape="1">
                <a:gsLst>
                  <a:gs pos="5900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图片 23" descr="图片2-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1539"/>
              <a:ext cx="9084" cy="584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12" y="941"/>
              <a:ext cx="568" cy="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ags/tag54.xml><?xml version="1.0" encoding="utf-8"?>
<p:tagLst xmlns:p="http://schemas.openxmlformats.org/presentationml/2006/main">
  <p:tag name="ISPRING_PRESENTATION_TITLE" val="未来科技风格产品项目展示介绍PPT模板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yyr4nmq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6E4E4"/>
      </a:lt2>
      <a:accent1>
        <a:srgbClr val="998C8C"/>
      </a:accent1>
      <a:accent2>
        <a:srgbClr val="646464"/>
      </a:accent2>
      <a:accent3>
        <a:srgbClr val="484545"/>
      </a:accent3>
      <a:accent4>
        <a:srgbClr val="6D615D"/>
      </a:accent4>
      <a:accent5>
        <a:srgbClr val="484545"/>
      </a:accent5>
      <a:accent6>
        <a:srgbClr val="6D615D"/>
      </a:accent6>
      <a:hlink>
        <a:srgbClr val="0563C1"/>
      </a:hlink>
      <a:folHlink>
        <a:srgbClr val="954D72"/>
      </a:folHlink>
    </a:clrScheme>
    <a:fontScheme name="agbvtnkv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4913</Words>
  <Application>WPS 演示</Application>
  <PresentationFormat>宽屏</PresentationFormat>
  <Paragraphs>453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46" baseType="lpstr">
      <vt:lpstr>Arial</vt:lpstr>
      <vt:lpstr>方正书宋_GBK</vt:lpstr>
      <vt:lpstr>Wingdings</vt:lpstr>
      <vt:lpstr>方正姚体简体</vt:lpstr>
      <vt:lpstr>苹方-简</vt:lpstr>
      <vt:lpstr>Calibri</vt:lpstr>
      <vt:lpstr>Helvetica Neue</vt:lpstr>
      <vt:lpstr>宋体</vt:lpstr>
      <vt:lpstr>汉仪书宋二KW</vt:lpstr>
      <vt:lpstr>Impact</vt:lpstr>
      <vt:lpstr>微软雅黑</vt:lpstr>
      <vt:lpstr>Microsoft YaHei Bold</vt:lpstr>
      <vt:lpstr>Arial</vt:lpstr>
      <vt:lpstr>Lato Light</vt:lpstr>
      <vt:lpstr>Open Sans</vt:lpstr>
      <vt:lpstr>Roboto Light</vt:lpstr>
      <vt:lpstr>Thonburi</vt:lpstr>
      <vt:lpstr>Microsoft YaHei</vt:lpstr>
      <vt:lpstr>宋体</vt:lpstr>
      <vt:lpstr>Arial Unicode MS</vt:lpstr>
      <vt:lpstr>汉仪旗黑-55简</vt:lpstr>
      <vt:lpstr>Impact MT Std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未来科技风格产品项目展示介绍PPT模板</dc:title>
  <dc:creator>春秋视觉工作室</dc:creator>
  <cp:lastModifiedBy>houzhongxiang</cp:lastModifiedBy>
  <cp:revision>399</cp:revision>
  <dcterms:created xsi:type="dcterms:W3CDTF">2022-06-22T02:32:39Z</dcterms:created>
  <dcterms:modified xsi:type="dcterms:W3CDTF">2022-06-22T02:32:39Z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2052-3.9.2.6301</vt:lpwstr>
  </property>
</Properties>
</file>