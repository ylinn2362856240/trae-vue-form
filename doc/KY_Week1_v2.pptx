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16"/>
  </p:handoutMasterIdLst>
  <p:sldIdLst>
    <p:sldId id="267" r:id="rId4"/>
    <p:sldId id="268" r:id="rId6"/>
    <p:sldId id="270" r:id="rId7"/>
    <p:sldId id="260" r:id="rId8"/>
    <p:sldId id="261" r:id="rId9"/>
    <p:sldId id="274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恺域科技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恺域科技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Spec分form和table两大分支，共享字段体系。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ComponentMap就像组件字典，扩展成本极低。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ComponentMap就像组件字典，扩展成本极低。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resolveComponent是引擎心脏，必须有兜底。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FormRenderer遍历fields数组，动态加载组件。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三个新人必踩的坑，记住可省80%调试时间。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实战：开发DateField，注册映射，验证渲染。20分钟。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本周完成从0到1。下周扩展表格渲染和联动。下课。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6.png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3.xml"/><Relationship Id="rId27" Type="http://schemas.openxmlformats.org/officeDocument/2006/relationships/image" Target="../media/image8.png"/><Relationship Id="rId26" Type="http://schemas.openxmlformats.org/officeDocument/2006/relationships/image" Target="../media/image7.png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619125" y="2132965"/>
            <a:ext cx="11075035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配置驱动 UI 开发 · Week 1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Spec 协议 · 组件映射 · 表单/表格自动渲染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6" presetClass="emph" presetSubtype="0" repeatCount="2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4" grpId="1" bldLvl="0" animBg="1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5"/>
            </p:custDataLst>
          </p:nvPr>
        </p:nvSpPr>
        <p:spPr bwMode="auto">
          <a:xfrm>
            <a:off x="3549650" y="2717800"/>
            <a:ext cx="2099945" cy="9271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lnSpc>
                <a:spcPct val="140000"/>
              </a:lnSpc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数据描述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 UI</a:t>
            </a:r>
            <a:b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告别模板硬编码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6"/>
            </p:custDataLst>
          </p:nvPr>
        </p:nvSpPr>
        <p:spPr bwMode="auto">
          <a:xfrm>
            <a:off x="3549650" y="2054225"/>
            <a:ext cx="250444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n-U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理解配置驱动</a:t>
            </a:r>
            <a:endParaRPr lang="zh-CN" altLang="en-U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>
            <p:custDataLst>
              <p:tags r:id="rId7"/>
            </p:custDataLst>
          </p:nvPr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11"/>
            </p:custDataLst>
          </p:nvPr>
        </p:nvSpPr>
        <p:spPr bwMode="auto">
          <a:xfrm>
            <a:off x="8542655" y="2707640"/>
            <a:ext cx="1981200" cy="9271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lnSpc>
                <a:spcPct val="140000"/>
              </a:lnSpc>
              <a:spcBef>
                <a:spcPts val="850"/>
              </a:spcBef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标准化 form/table</a:t>
            </a:r>
            <a:b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配置结构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12"/>
            </p:custDataLst>
          </p:nvPr>
        </p:nvSpPr>
        <p:spPr bwMode="auto">
          <a:xfrm>
            <a:off x="8542655" y="2044065"/>
            <a:ext cx="274256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n-U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设计</a:t>
            </a:r>
            <a:r>
              <a:rPr lang="en-US" altLang="zh-CN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 Spec </a:t>
            </a:r>
            <a:r>
              <a:rPr lang="zh-CN" altLang="en-U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协议</a:t>
            </a:r>
            <a:endParaRPr lang="zh-CN" altLang="en-U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>
            <p:custDataLst>
              <p:tags r:id="rId13"/>
            </p:custDataLst>
          </p:nvPr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>
            <p:custDataLst>
              <p:tags r:id="rId14"/>
            </p:custDataLst>
          </p:nvPr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17"/>
            </p:custDataLst>
          </p:nvPr>
        </p:nvSpPr>
        <p:spPr bwMode="auto">
          <a:xfrm>
            <a:off x="3549650" y="5020945"/>
            <a:ext cx="1981200" cy="84074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lnSpc>
                <a:spcPct val="120000"/>
              </a:lnSpc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FormRenderer</a:t>
            </a:r>
            <a:b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TableRenderer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18"/>
            </p:custDataLst>
          </p:nvPr>
        </p:nvSpPr>
        <p:spPr bwMode="auto">
          <a:xfrm>
            <a:off x="3549650" y="4357370"/>
            <a:ext cx="272288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n-U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实现渲染引擎</a:t>
            </a:r>
            <a:endParaRPr lang="zh-CN" altLang="en-U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>
            <p:custDataLst>
              <p:tags r:id="rId19"/>
            </p:custDataLst>
          </p:nvPr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>
            <p:custDataLst>
              <p:tags r:id="rId20"/>
            </p:custDataLst>
          </p:nvPr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23"/>
            </p:custDataLst>
          </p:nvPr>
        </p:nvSpPr>
        <p:spPr bwMode="auto">
          <a:xfrm>
            <a:off x="8542655" y="5010785"/>
            <a:ext cx="1981200" cy="9271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lnSpc>
                <a:spcPct val="140000"/>
              </a:lnSpc>
              <a:spcBef>
                <a:spcPts val="850"/>
              </a:spcBef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type→组件映射</a:t>
            </a:r>
            <a:b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兜底策略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>
            <p:custDataLst>
              <p:tags r:id="rId24"/>
            </p:custDataLst>
          </p:nvPr>
        </p:nvSpPr>
        <p:spPr bwMode="auto">
          <a:xfrm>
            <a:off x="8542655" y="4347210"/>
            <a:ext cx="298831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n-U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掌握</a:t>
            </a:r>
            <a:r>
              <a:rPr lang="en-US" altLang="zh-CN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 componentMap</a:t>
            </a:r>
            <a:endParaRPr lang="en-US" altLang="zh-CN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>
            <p:custDataLst>
              <p:tags r:id="rId25"/>
            </p:custDataLst>
          </p:nvPr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Week1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什么是配置驱动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 panose="020B0503020204020204" pitchFamily="34" charset="-122"/>
              </a:defRPr>
            </a:pPr>
            <a:r>
              <a:t>旧模式：模板硬编码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每页重复开发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字段与 UI 强耦合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变更需修改代码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743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新模式：数据即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一份 Spec 驱动多种视图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JSON：{type:"input", label:"姓名"}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灵活性与自动化倍增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form 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E787"/>
                </a:solidFill>
                <a:latin typeface="微软雅黑" panose="020B0503020204020204" pitchFamily="34" charset="-122"/>
              </a:defRPr>
            </a:pPr>
            <a:r>
              <a:t>{</a:t>
            </a:r>
            <a:br/>
            <a:r>
              <a:t>  "form": [</a:t>
            </a:r>
            <a:br/>
            <a:r>
              <a:t>    { "type": "input",</a:t>
            </a:r>
            <a:br/>
            <a:r>
              <a:t>      "label": "姓名",</a:t>
            </a:r>
            <a:br/>
            <a:r>
              <a:t>      "model": "name" },</a:t>
            </a:r>
            <a:br/>
            <a:r>
              <a:t>    { "type": "select",</a:t>
            </a:r>
            <a:br/>
            <a:r>
              <a:t>      "label": "性别",</a:t>
            </a:r>
            <a:br/>
            <a:r>
              <a:t>      "model": "gender"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table 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E787"/>
                </a:solidFill>
                <a:latin typeface="微软雅黑" panose="020B0503020204020204" pitchFamily="34" charset="-122"/>
              </a:defRPr>
            </a:pPr>
            <a:r>
              <a:t>{</a:t>
            </a:r>
            <a:br/>
            <a:r>
              <a:t>  "table": [</a:t>
            </a:r>
            <a:br/>
            <a:r>
              <a:t>    { "label": "姓名",</a:t>
            </a:r>
            <a:br/>
            <a:r>
              <a:t>      "prop": "name" },</a:t>
            </a:r>
            <a:br/>
            <a:r>
              <a:t>    { "label": "状态",</a:t>
            </a:r>
            <a:br/>
            <a:r>
              <a:t>      "prop": "status"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微软雅黑" panose="020B0503020204020204" pitchFamily="34" charset="-122"/>
              </a:defRPr>
            </a:pPr>
            <a:r>
              <a:t>核心原则：一份 JSON 驱动页面全部交互元素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Spec 协议设计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type → 组件映射表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3774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EE787"/>
                </a:solidFill>
                <a:latin typeface="微软雅黑" panose="020B0503020204020204" pitchFamily="34" charset="-122"/>
              </a:defRPr>
            </a:pPr>
            <a:r>
              <a:t>export const componentMap = {</a:t>
            </a:r>
            <a:br/>
            <a:r>
              <a:t>  input:  InputField,</a:t>
            </a:r>
            <a:br/>
            <a:r>
              <a:t>  select: SelectField,</a:t>
            </a:r>
            <a:br/>
            <a:r>
              <a:t>  number: NumberField,</a:t>
            </a:r>
            <a:br/>
            <a:r>
              <a:t>  date:   DateField</a:t>
            </a:r>
            <a:br/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3774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统一管理所有可用组件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type→组件 是解耦的关键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新增组件只需注册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引擎代码无需改动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847090"/>
            <a:chOff x="385" y="958"/>
            <a:chExt cx="17754" cy="1334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133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ComponentMap 机制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l" defTabSz="323850">
                <a:spcBef>
                  <a:spcPts val="850"/>
                </a:spcBef>
              </a:pP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9144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1.  输入 type 字符串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2.  查找 componentMap[type]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3.  找到 → 返回组件实例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4.  未找到 → 检查是否有兜底组件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5.  有兜底 → 返回 UnknownField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6.  无兜底 → console.warn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 panose="020B0503020204020204" pitchFamily="34" charset="-122"/>
              </a:defRPr>
            </a:pPr>
            <a:r>
              <a:t>生产环境严禁白屏</a:t>
            </a:r>
            <a:br/>
            <a:r>
              <a:t>应降级渲染并报警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847090"/>
            <a:chOff x="385" y="958"/>
            <a:chExt cx="17754" cy="1334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133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resolveComponent 兜底流程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l" defTabSz="323850">
                <a:spcBef>
                  <a:spcPts val="850"/>
                </a:spcBef>
              </a:pP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9144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EE787"/>
                </a:solidFill>
                <a:latin typeface="微软雅黑" panose="020B0503020204020204" pitchFamily="34" charset="-122"/>
              </a:defRPr>
            </a:pPr>
            <a:r>
              <a:t>&lt;template v-for="item in schema"</a:t>
            </a:r>
            <a:br/>
            <a:r>
              <a:t>  :key="item.model"&gt;</a:t>
            </a:r>
            <a:br/>
            <a:r>
              <a:t>  &lt;el-form-item :label="item.label"&gt;</a:t>
            </a:r>
            <a:br/>
            <a:r>
              <a:t>    &lt;component</a:t>
            </a:r>
            <a:br/>
            <a:r>
              <a:t>      :is="resolveComponent(item.type)"</a:t>
            </a:r>
            <a:br/>
            <a:r>
              <a:t>      v-bind="item"</a:t>
            </a:r>
            <a:br/>
            <a:r>
              <a:t>      v-model="model[item.model]"</a:t>
            </a:r>
            <a:br/>
            <a:r>
              <a:t>    /&gt;</a:t>
            </a:r>
            <a:br/>
            <a:r>
              <a:t>  &lt;/el-form-item&gt;</a:t>
            </a:r>
            <a:br/>
            <a:r>
              <a:t>&lt;/template&gt;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动态组件 &lt;component :is&gt;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v-bind 透传所有配置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v-model 双向绑定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修改 JSON 即刻改变界面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847090"/>
            <a:chOff x="385" y="958"/>
            <a:chExt cx="17754" cy="1334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133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FormRenderer 核心实现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l" defTabSz="323850">
                <a:spcBef>
                  <a:spcPts val="850"/>
                </a:spcBef>
              </a:pP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ounded Rectangle 27"/>
          <p:cNvSpPr/>
          <p:nvPr/>
        </p:nvSpPr>
        <p:spPr>
          <a:xfrm>
            <a:off x="1097280" y="2011680"/>
            <a:ext cx="9601200" cy="1005840"/>
          </a:xfrm>
          <a:prstGeom prst="round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F8C00"/>
                </a:solidFill>
                <a:latin typeface="微软雅黑" panose="020B0503020204020204" pitchFamily="34" charset="-122"/>
              </a:defRPr>
            </a:pPr>
            <a:r>
              <a:t>坑1 · 响应式初始化</a:t>
            </a:r>
          </a:p>
          <a:p>
            <a:pPr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formData 必须基于 Spec 的 key 提前用 reactive 初始化，空对象导致 v-model 失效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291840"/>
            <a:ext cx="9601200" cy="1005840"/>
          </a:xfrm>
          <a:prstGeom prst="round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F8C00"/>
                </a:solidFill>
                <a:latin typeface="微软雅黑" panose="020B0503020204020204" pitchFamily="34" charset="-122"/>
              </a:defRPr>
            </a:pPr>
            <a:r>
              <a:t>坑2 · type 严格一致</a:t>
            </a:r>
          </a:p>
          <a:p>
            <a:pPr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ComponentMap 的 key 与 Spec 中的 type 字符串必须完全一致，区分大小写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572000"/>
            <a:ext cx="9601200" cy="1005840"/>
          </a:xfrm>
          <a:prstGeom prst="round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F8C00"/>
                </a:solidFill>
                <a:latin typeface="微软雅黑" panose="020B0503020204020204" pitchFamily="34" charset="-122"/>
              </a:defRPr>
            </a:pPr>
            <a:r>
              <a:t>坑3 · 组件必须注册</a:t>
            </a:r>
          </a:p>
          <a:p>
            <a:pPr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&lt;component :is&gt; 只认本地映射表解析出来的组件引用，全局注册无效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ounded Rectangle 27"/>
          <p:cNvSpPr/>
          <p:nvPr/>
        </p:nvSpPr>
        <p:spPr>
          <a:xfrm>
            <a:off x="1097280" y="2103120"/>
            <a:ext cx="2926080" cy="256032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6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Step 1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开发 DateField.vue</a:t>
            </a:r>
            <a:br/>
            <a:r>
              <a:t>实现日期选择器组件</a:t>
            </a:r>
            <a:br/>
            <a:r>
              <a:t>支持 v-model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103120"/>
            <a:ext cx="2926080" cy="256032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6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Step 2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注册 componentMap</a:t>
            </a:r>
            <a:br/>
            <a:r>
              <a:t>添加 date: DateField</a:t>
            </a:r>
            <a:br/>
            <a:r>
              <a:t>完成类型映射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103120"/>
            <a:ext cx="2926080" cy="256032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6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Step 3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修改 Spec 验证渲染</a:t>
            </a:r>
            <a:br/>
            <a:r>
              <a:t>添加 type:'date' 字段</a:t>
            </a:r>
            <a:br/>
            <a:r>
              <a:t>观察 UI 联动效果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6CB0"/>
                </a:solidFill>
                <a:latin typeface="微软雅黑" panose="020B0503020204020204" pitchFamily="34" charset="-122"/>
              </a:defRPr>
            </a:pPr>
            <a:r>
              <a:t>验收：修改 Spec 中日期字段的 props，观察 UI 联动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TextBox 27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✓  配置驱动理念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✓  Spec 协议设计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✓  ComponentMap 映射机制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✓  FormRenderer 渲染引擎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✓  三大避坑要点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E8"/>
                </a:solidFill>
                <a:latin typeface="微软雅黑" panose="020B0503020204020204" pitchFamily="34" charset="-122"/>
              </a:defRPr>
            </a:pPr>
            <a:r>
              <a:t>下周预告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扩展 TableRenderer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表单联动与校验规则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·  动态数据初始化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7756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3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4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5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6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7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8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9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0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1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2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3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4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5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6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7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8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19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0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1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2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3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4.xml><?xml version="1.0" encoding="utf-8"?>
<p:tagLst xmlns:p="http://schemas.openxmlformats.org/presentationml/2006/main">
  <p:tag name="KSO_WM_DIAGRAM_VIRTUALLY_FRAME" val="{&quot;height&quot;:380.35,&quot;left&quot;:81.35,&quot;top&quot;:123.55,&quot;width&quot;:826.6}"/>
</p:tagLst>
</file>

<file path=ppt/tags/tag25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2087</Words>
  <Application>WPS 演示</Application>
  <PresentationFormat>宽屏</PresentationFormat>
  <Paragraphs>138</Paragraphs>
  <Slides>11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方正姚体简体</vt:lpstr>
      <vt:lpstr>Calibri</vt:lpstr>
      <vt:lpstr>汉仪旗黑-55简</vt:lpstr>
      <vt:lpstr>Impact</vt:lpstr>
      <vt:lpstr>微软雅黑</vt:lpstr>
      <vt:lpstr>Impact MT Std</vt:lpstr>
      <vt:lpstr>Arial Unicode MS</vt:lpstr>
      <vt:lpstr>Libra Std Regular</vt:lpstr>
      <vt:lpstr>Microsoft YaHei Bold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杨林</cp:lastModifiedBy>
  <cp:revision>403</cp:revision>
  <dcterms:created xsi:type="dcterms:W3CDTF">2022-06-22T02:32:00Z</dcterms:created>
  <dcterms:modified xsi:type="dcterms:W3CDTF">2026-05-06T09:10:24Z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FC18B2FCA2374C409F5E941A21952969_12</vt:lpwstr>
  </property>
</Properties>
</file>