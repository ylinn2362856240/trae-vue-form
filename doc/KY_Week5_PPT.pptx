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5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27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A1"/>
    <a:srgbClr val="0053B5"/>
    <a:srgbClr val="004B9F"/>
    <a:srgbClr val="08112D"/>
    <a:srgbClr val="06438B"/>
    <a:srgbClr val="063E89"/>
    <a:srgbClr val="0058C7"/>
    <a:srgbClr val="0051B2"/>
    <a:srgbClr val="00479E"/>
    <a:srgbClr val="053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12" autoAdjust="0"/>
    <p:restoredTop sz="95109" autoAdjust="0"/>
  </p:normalViewPr>
  <p:slideViewPr>
    <p:cSldViewPr>
      <p:cViewPr varScale="1">
        <p:scale>
          <a:sx n="100" d="100"/>
          <a:sy n="100" d="100"/>
        </p:scale>
        <p:origin x="162" y="72"/>
      </p:cViewPr>
      <p:guideLst>
        <p:guide orient="horz" pos="2090"/>
        <p:guide pos="389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tags" Target="tags/tag5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E3CDE-72A8-4BCE-8D8E-0AD93353D2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83835-5FA0-4497-8FBE-4A089E5F9A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恺域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18800" y="153670"/>
            <a:ext cx="1264285" cy="29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 descr="图片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635"/>
            <a:ext cx="12185015" cy="68599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866" b="2111"/>
          <a:stretch>
            <a:fillRect/>
          </a:stretch>
        </p:blipFill>
        <p:spPr>
          <a:xfrm flipV="1">
            <a:off x="0" y="-1746885"/>
            <a:ext cx="11918950" cy="8641080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2104571" y="2467113"/>
            <a:ext cx="7982858" cy="1198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r>
              <a:rPr lang="zh-CN" altLang="en-US" sz="7200" spc="0" dirty="0">
                <a:latin typeface="+mn-lt"/>
                <a:ea typeface="+mn-ea"/>
                <a:cs typeface="+mn-ea"/>
                <a:sym typeface="+mn-lt"/>
              </a:rPr>
              <a:t>AI 提示词工程与实战 · Week 5</a:t>
            </a:r>
            <a:endParaRPr lang="zh-CN" altLang="en-US" sz="7200" spc="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矩形 17" descr="e7d195523061f1c01ef2b70529884c179423570dbaad84926380ABC1F97BAEF0C8FC051856578EAB7874501A1FFE158C4981707381814BCC4D9A8E3554438DEE4FBCF5A5B4D2A8B0989AB57E8BAC65EBA34ED8FB1A48FECAC0ED8A4DF70CC7B90FD7A086B1F16DEEBEB2C5CF2C88846FC5891EC4571F9415002F4432C631761E04B37734D4BF7664"/>
          <p:cNvSpPr>
            <a:spLocks noChangeArrowheads="1"/>
          </p:cNvSpPr>
          <p:nvPr/>
        </p:nvSpPr>
        <p:spPr bwMode="auto">
          <a:xfrm>
            <a:off x="2326349" y="3666172"/>
            <a:ext cx="7539301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/>
            <a:r>
              <a:rPr lang="en-US" altLang="zh-CN" sz="1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Prompt 设计 · 结构约束 · 智能生成闭环</a:t>
            </a:r>
            <a:endParaRPr lang="en-US" altLang="zh-CN" sz="1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 descr="kaiyu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" y="455295"/>
            <a:ext cx="1369695" cy="31432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24865" y="5755640"/>
            <a:ext cx="10473055" cy="610235"/>
            <a:chOff x="1186" y="8619"/>
            <a:chExt cx="16493" cy="961"/>
          </a:xfrm>
        </p:grpSpPr>
        <p:sp>
          <p:nvSpPr>
            <p:cNvPr id="2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5"/>
              </p:custDataLst>
            </p:nvPr>
          </p:nvSpPr>
          <p:spPr bwMode="auto">
            <a:xfrm>
              <a:off x="1343" y="9247"/>
              <a:ext cx="6988" cy="2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</a:t>
              </a:r>
              <a:endParaRPr lang="en-US" altLang="zh-CN" sz="9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  <p:cNvSpPr txBox="1"/>
            <p:nvPr>
              <p:custDataLst>
                <p:tags r:id="rId6"/>
              </p:custDataLst>
            </p:nvPr>
          </p:nvSpPr>
          <p:spPr>
            <a:xfrm>
              <a:off x="1186" y="8619"/>
              <a:ext cx="8490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60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l"/>
              <a:r>
                <a:rPr lang="zh-CN" altLang="en-US" sz="2000" b="1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小标题小标题</a:t>
              </a:r>
              <a:endParaRPr lang="zh-CN" altLang="en-US" sz="2000" b="1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7"/>
              </p:custDataLst>
            </p:nvPr>
          </p:nvSpPr>
          <p:spPr bwMode="auto">
            <a:xfrm>
              <a:off x="11693" y="9174"/>
              <a:ext cx="5986" cy="40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algn="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2022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年</a:t>
              </a:r>
              <a:r>
                <a:rPr lang="en-US" altLang="zh-CN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6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月</a:t>
              </a:r>
              <a:endParaRPr lang="zh-CN" altLang="en-US" sz="14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sp>
        <p:nvSpPr>
          <p:cNvPr id="8" name="流程图: 可选过程 7"/>
          <p:cNvSpPr/>
          <p:nvPr/>
        </p:nvSpPr>
        <p:spPr>
          <a:xfrm>
            <a:off x="637540" y="5807710"/>
            <a:ext cx="76200" cy="512445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20370"/>
            <a:ext cx="2965450" cy="6437630"/>
          </a:xfrm>
          <a:prstGeom prst="rect">
            <a:avLst/>
          </a:prstGeom>
          <a:gradFill>
            <a:gsLst>
              <a:gs pos="0">
                <a:srgbClr val="00479E"/>
              </a:gs>
              <a:gs pos="100000">
                <a:srgbClr val="1B336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995" y="1781175"/>
            <a:ext cx="3394075" cy="5093335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554355" y="1309370"/>
            <a:ext cx="127508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pPr algn="l"/>
            <a:r>
              <a:rPr lang="zh-CN" altLang="en-US" sz="3600" spc="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目录</a:t>
            </a:r>
            <a:endParaRPr lang="zh-CN" altLang="en-US" sz="3600" spc="0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sp>
        <p:nvSpPr>
          <p:cNvPr id="1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<p:cNvSpPr txBox="1"/>
          <p:nvPr>
            <p:custDataLst>
              <p:tags r:id="rId2"/>
            </p:custDataLst>
          </p:nvPr>
        </p:nvSpPr>
        <p:spPr>
          <a:xfrm>
            <a:off x="554355" y="5493385"/>
            <a:ext cx="21272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6000">
                <a:ln w="38100">
                  <a:noFill/>
                </a:ln>
                <a:solidFill>
                  <a:schemeClr val="bg1"/>
                </a:solidFill>
                <a:latin typeface="Impact" panose="020B0806030902050204" pitchFamily="34" charset="0"/>
                <a:ea typeface="微软雅黑" panose="020B0502040204020203" pitchFamily="34" charset="-122"/>
              </a:defRPr>
            </a:lvl1pPr>
          </a:lstStyle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contents</a:t>
            </a:r>
            <a:endParaRPr lang="en-US" altLang="zh-CN" sz="1600" b="1" dirty="0">
              <a:solidFill>
                <a:schemeClr val="bg1"/>
              </a:solidFill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482715" y="939800"/>
            <a:ext cx="2477135" cy="840740"/>
            <a:chOff x="5522" y="1826"/>
            <a:chExt cx="3901" cy="1324"/>
          </a:xfrm>
        </p:grpSpPr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23" name="组合 22"/>
            <p:cNvGrpSpPr/>
            <p:nvPr/>
          </p:nvGrpSpPr>
          <p:grpSpPr>
            <a:xfrm>
              <a:off x="5765" y="2069"/>
              <a:ext cx="3659" cy="838"/>
              <a:chOff x="6647" y="2245"/>
              <a:chExt cx="3659" cy="838"/>
            </a:xfrm>
          </p:grpSpPr>
          <p:sp>
            <p:nvSpPr>
    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1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6647" y="2245"/>
                <a:ext cx="839" cy="838"/>
                <a:chOff x="6708" y="3228"/>
                <a:chExt cx="839" cy="838"/>
              </a:xfrm>
            </p:grpSpPr>
            <p:sp>
              <p:nvSpPr>
                <p:cNvPr id="21" name="AutoShape 10"/>
                <p:cNvSpPr/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01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54" name="组合 53"/>
          <p:cNvGrpSpPr/>
          <p:nvPr/>
        </p:nvGrpSpPr>
        <p:grpSpPr>
          <a:xfrm>
            <a:off x="6482715" y="1989455"/>
            <a:ext cx="2477770" cy="841375"/>
            <a:chOff x="5522" y="1826"/>
            <a:chExt cx="3902" cy="1325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56" name="组合 55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5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2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59" name="AutoShape 10"/>
                <p:cNvSpPr/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02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61" name="组合 60"/>
          <p:cNvGrpSpPr/>
          <p:nvPr/>
        </p:nvGrpSpPr>
        <p:grpSpPr>
          <a:xfrm>
            <a:off x="6482715" y="3011805"/>
            <a:ext cx="2477770" cy="841375"/>
            <a:chOff x="5522" y="1826"/>
            <a:chExt cx="3902" cy="1325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6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3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66" name="AutoShape 10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03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cxnSp>
        <p:nvCxnSpPr>
          <p:cNvPr id="68" name="直接连接符 67"/>
          <p:cNvCxnSpPr/>
          <p:nvPr/>
        </p:nvCxnSpPr>
        <p:spPr>
          <a:xfrm>
            <a:off x="637540" y="5948045"/>
            <a:ext cx="12198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3655060" y="939800"/>
            <a:ext cx="2827655" cy="1014730"/>
            <a:chOff x="10319" y="1402"/>
            <a:chExt cx="4453" cy="1598"/>
          </a:xfrm>
        </p:grpSpPr>
        <p:grpSp>
          <p:nvGrpSpPr>
            <p:cNvPr id="76" name="组合 75"/>
            <p:cNvGrpSpPr/>
            <p:nvPr/>
          </p:nvGrpSpPr>
          <p:grpSpPr>
            <a:xfrm>
              <a:off x="10319" y="1402"/>
              <a:ext cx="1811" cy="1598"/>
              <a:chOff x="10234" y="5569"/>
              <a:chExt cx="1811" cy="1598"/>
            </a:xfrm>
          </p:grpSpPr>
          <p:grpSp>
            <p:nvGrpSpPr>
              <p:cNvPr id="72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73" name="Freeform 17"/>
                <p:cNvSpPr>
                  <a:spLocks noChangeAspect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 26"/>
                <p:cNvSpPr>
                  <a:spLocks noChangeAspect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01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16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1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3655060" y="2226945"/>
            <a:ext cx="2827655" cy="1014730"/>
            <a:chOff x="10319" y="1402"/>
            <a:chExt cx="4453" cy="1598"/>
          </a:xfrm>
        </p:grpSpPr>
        <p:grpSp>
          <p:nvGrpSpPr>
            <p:cNvPr id="80" name="组合 79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1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2" name="Freeform 17"/>
                <p:cNvSpPr>
                  <a:spLocks noChangeAspect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 26"/>
                <p:cNvSpPr>
                  <a:spLocks noChangeAspect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02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8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0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655060" y="3514090"/>
            <a:ext cx="2827655" cy="1014730"/>
            <a:chOff x="10319" y="1402"/>
            <a:chExt cx="4453" cy="1598"/>
          </a:xfrm>
        </p:grpSpPr>
        <p:grpSp>
          <p:nvGrpSpPr>
            <p:cNvPr id="87" name="组合 86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8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9" name="Freeform 17"/>
                <p:cNvSpPr>
                  <a:spLocks noChangeAspect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Freeform 26"/>
                <p:cNvSpPr>
                  <a:spLocks noChangeAspect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91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03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9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4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3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6640830" y="4142105"/>
            <a:ext cx="3293745" cy="431800"/>
            <a:chOff x="1803" y="1839"/>
            <a:chExt cx="5187" cy="680"/>
          </a:xfrm>
        </p:grpSpPr>
        <p:sp>
          <p:nvSpPr>
            <p:cNvPr id="98" name="圆角矩形 97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0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6640830" y="4988560"/>
            <a:ext cx="3293745" cy="431800"/>
            <a:chOff x="1803" y="1839"/>
            <a:chExt cx="5187" cy="680"/>
          </a:xfrm>
        </p:grpSpPr>
        <p:sp>
          <p:nvSpPr>
            <p:cNvPr id="102" name="圆角矩形 101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4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40830" y="5819775"/>
            <a:ext cx="3293745" cy="431800"/>
            <a:chOff x="1803" y="1839"/>
            <a:chExt cx="5187" cy="680"/>
          </a:xfrm>
        </p:grpSpPr>
        <p:sp>
          <p:nvSpPr>
            <p:cNvPr id="106" name="圆角矩形 105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8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 rot="0">
            <a:off x="1033145" y="1579245"/>
            <a:ext cx="2516505" cy="2517140"/>
            <a:chOff x="6712" y="404664"/>
            <a:chExt cx="6259809" cy="6259809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42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71780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技术平台化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微服务架构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大数据治理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05422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提示词原理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5" name="五边形 4"/>
          <p:cNvSpPr/>
          <p:nvPr/>
        </p:nvSpPr>
        <p:spPr>
          <a:xfrm>
            <a:off x="3549650" y="249491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 rot="0">
            <a:off x="6026150" y="1569085"/>
            <a:ext cx="2516505" cy="2517140"/>
            <a:chOff x="6712" y="404664"/>
            <a:chExt cx="6259809" cy="6259809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17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8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70764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业务流程优化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业务场景规划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数据特点分析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04406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结构化输出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0" name="五边形 19"/>
          <p:cNvSpPr/>
          <p:nvPr/>
        </p:nvSpPr>
        <p:spPr>
          <a:xfrm>
            <a:off x="8542655" y="248475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 rot="0">
            <a:off x="1033145" y="3882390"/>
            <a:ext cx="2516505" cy="2517140"/>
            <a:chOff x="6712" y="404664"/>
            <a:chExt cx="6259809" cy="6259809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2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5020945"/>
            <a:ext cx="1981200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投研一体化平台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组合管理平台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投资决策分析平台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/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435737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容错重试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7" name="五边形 26"/>
          <p:cNvSpPr/>
          <p:nvPr/>
        </p:nvSpPr>
        <p:spPr>
          <a:xfrm>
            <a:off x="3549650" y="479806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 rot="0">
            <a:off x="6026150" y="3872230"/>
            <a:ext cx="2516505" cy="2517140"/>
            <a:chOff x="6712" y="404664"/>
            <a:chExt cx="6259809" cy="6259809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3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5010785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差异化分析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个性化开发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定制化流程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434721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闭环验收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37" name="五边形 36"/>
          <p:cNvSpPr/>
          <p:nvPr/>
        </p:nvSpPr>
        <p:spPr>
          <a:xfrm>
            <a:off x="8542655" y="478790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3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Week5 目标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íṩḷide"/>
          <p:cNvGrpSpPr/>
          <p:nvPr/>
        </p:nvGrpSpPr>
        <p:grpSpPr>
          <a:xfrm rot="0">
            <a:off x="3857625" y="3069590"/>
            <a:ext cx="4476750" cy="1619250"/>
            <a:chOff x="3868401" y="2619360"/>
            <a:chExt cx="4476949" cy="1619283"/>
          </a:xfrm>
        </p:grpSpPr>
        <p:sp>
          <p:nvSpPr>
            <p:cNvPr id="17" name="ïşlîḓé"/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rgbClr val="004B9F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lîḑè"/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3765">
                <a:spcBef>
                  <a:spcPct val="0"/>
                </a:spcBef>
                <a:defRPr/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30705" y="2695666"/>
            <a:ext cx="2800604" cy="2891044"/>
            <a:chOff x="1330705" y="2885531"/>
            <a:chExt cx="2800604" cy="2891044"/>
          </a:xfrm>
        </p:grpSpPr>
        <p:sp>
          <p:nvSpPr>
            <p:cNvPr id="19" name="椭圆 18"/>
            <p:cNvSpPr/>
            <p:nvPr/>
          </p:nvSpPr>
          <p:spPr>
            <a:xfrm>
              <a:off x="2158870" y="2885531"/>
              <a:ext cx="752346" cy="752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30705" y="3838535"/>
              <a:ext cx="2800604" cy="1938040"/>
              <a:chOff x="3704311" y="1674823"/>
              <a:chExt cx="2800604" cy="193804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704311" y="2136488"/>
                <a:ext cx="2244073" cy="1476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【开放式 Prompt】
· "帮我生成一个登录表单"
· 每次返回的格式都不一样
· 无法直接送入 UI 引擎渲染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
【约束式 Prompt (System)】
· "你是前端专家，严格按 JSON 输出..."
· 提供范例 (Few-Shot)
· 输出具备高度确定性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开放式 vs 约束式 Prompt</a:t>
                </a:r>
                <a:endParaRPr lang="zh-CN" altLang="en-US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617224" y="2712059"/>
            <a:ext cx="2800604" cy="2643511"/>
            <a:chOff x="8617224" y="2901924"/>
            <a:chExt cx="2800604" cy="2643511"/>
          </a:xfrm>
        </p:grpSpPr>
        <p:sp>
          <p:nvSpPr>
            <p:cNvPr id="21" name="椭圆 20"/>
            <p:cNvSpPr/>
            <p:nvPr/>
          </p:nvSpPr>
          <p:spPr>
            <a:xfrm>
              <a:off x="9280783" y="2901924"/>
              <a:ext cx="752347" cy="752347"/>
            </a:xfrm>
            <a:prstGeom prst="ellipse">
              <a:avLst/>
            </a:prstGeom>
            <a:solidFill>
              <a:srgbClr val="004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617224" y="3838535"/>
              <a:ext cx="2800604" cy="1706900"/>
              <a:chOff x="3704311" y="1674823"/>
              <a:chExt cx="2800604" cy="17069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704311" y="2136488"/>
                <a:ext cx="2244073" cy="1245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【开放式 Prompt】
· "帮我生成一个登录表单"
· 每次返回的格式都不一样
· 无法直接送入 UI 引擎渲染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开放式 vs 约束式 Prompt</a:t>
                </a:r>
                <a:endParaRPr lang="en-US" altLang="zh-CN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495490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rgbClr val="08112D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rgbClr val="08112D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793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大模型引导策略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系统指令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约束示范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SYSTEM_PROMPT = """
你是一个表单引擎配置生成器。
必须返回合法的 JSON，不要输出任何解释。
支持的 type: [input, number, date, select]
示例格式:
{ "form": [{ "type": "input", ... }] }
"""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· 明确身份定位
· 严格限定组件库可用范围
· 提供标准的 JSON 骨架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高质量 Prompt 模板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íṩḷide"/>
          <p:cNvGrpSpPr/>
          <p:nvPr/>
        </p:nvGrpSpPr>
        <p:grpSpPr>
          <a:xfrm rot="0">
            <a:off x="3857625" y="3069590"/>
            <a:ext cx="4476750" cy="1619250"/>
            <a:chOff x="3868401" y="2619360"/>
            <a:chExt cx="4476949" cy="1619283"/>
          </a:xfrm>
        </p:grpSpPr>
        <p:sp>
          <p:nvSpPr>
            <p:cNvPr id="17" name="ïşlîḓé"/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rgbClr val="004B9F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lîḑè"/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3765">
                <a:spcBef>
                  <a:spcPct val="0"/>
                </a:spcBef>
                <a:defRPr/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30705" y="2695666"/>
            <a:ext cx="2800604" cy="2891044"/>
            <a:chOff x="1330705" y="2885531"/>
            <a:chExt cx="2800604" cy="2891044"/>
          </a:xfrm>
        </p:grpSpPr>
        <p:sp>
          <p:nvSpPr>
            <p:cNvPr id="19" name="椭圆 18"/>
            <p:cNvSpPr/>
            <p:nvPr/>
          </p:nvSpPr>
          <p:spPr>
            <a:xfrm>
              <a:off x="2158870" y="2885531"/>
              <a:ext cx="752346" cy="752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30705" y="3838535"/>
              <a:ext cx="2800604" cy="1938040"/>
              <a:chOff x="3704311" y="1674823"/>
              <a:chExt cx="2800604" cy="193804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704311" y="2136488"/>
                <a:ext cx="2244073" cy="1476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【直接 json.loads】
· 极易因为尾部逗号报错
· 无法处理 Markdown 标记
· 成功率通常低于 80%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
【清洗与修复 (Clean+Regex)】
· 剥离 ```json 与 ``` 标签
· 正则处理多余标点
· 失败时让 LLM 重新 "修复这个 JSON"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单纯 loads vs 修复正则</a:t>
                </a:r>
                <a:endParaRPr lang="zh-CN" altLang="en-US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617224" y="2712059"/>
            <a:ext cx="2800604" cy="2643511"/>
            <a:chOff x="8617224" y="2901924"/>
            <a:chExt cx="2800604" cy="2643511"/>
          </a:xfrm>
        </p:grpSpPr>
        <p:sp>
          <p:nvSpPr>
            <p:cNvPr id="21" name="椭圆 20"/>
            <p:cNvSpPr/>
            <p:nvPr/>
          </p:nvSpPr>
          <p:spPr>
            <a:xfrm>
              <a:off x="9280783" y="2901924"/>
              <a:ext cx="752347" cy="752347"/>
            </a:xfrm>
            <a:prstGeom prst="ellipse">
              <a:avLst/>
            </a:prstGeom>
            <a:solidFill>
              <a:srgbClr val="004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617224" y="3838535"/>
              <a:ext cx="2800604" cy="1706900"/>
              <a:chOff x="3704311" y="1674823"/>
              <a:chExt cx="2800604" cy="17069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704311" y="2136488"/>
                <a:ext cx="2244073" cy="1245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【直接 json.loads】
· 极易因为尾部逗号报错
· 无法处理 Markdown 标记
· 成功率通常低于 80%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单纯 loads vs 修复正则</a:t>
                </a:r>
                <a:endParaRPr lang="en-US" altLang="zh-CN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495490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rgbClr val="08112D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rgbClr val="08112D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793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JSON 解析容错机制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9027795" y="1969770"/>
            <a:ext cx="2227580" cy="3340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4995545" y="1969135"/>
            <a:ext cx="2227580" cy="334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1081405" y="1969135"/>
            <a:ext cx="2227580" cy="33401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7368" y="3346977"/>
            <a:ext cx="3574248" cy="2239158"/>
            <a:chOff x="839416" y="3097665"/>
            <a:chExt cx="3574248" cy="2239158"/>
          </a:xfrm>
        </p:grpSpPr>
        <p:sp>
          <p:nvSpPr>
            <p:cNvPr id="8" name="文本框 7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坑1 · 幻觉组件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大模型极易凭空创造 `type: 'map'` 等不存在的组件，必须白名单限制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322463" y="3313689"/>
            <a:ext cx="3574248" cy="2239158"/>
            <a:chOff x="839416" y="3097665"/>
            <a:chExt cx="3574248" cy="2239158"/>
          </a:xfrm>
        </p:grpSpPr>
        <p:sp>
          <p:nvSpPr>
            <p:cNvPr id="25" name="文本框 24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坑2 · 模型记忆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单轮对话无状态，需将上次生成的错误 Spec 喂回给模型要求修改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354911" y="3313689"/>
            <a:ext cx="3574248" cy="2239158"/>
            <a:chOff x="839416" y="3097665"/>
            <a:chExt cx="3574248" cy="2239158"/>
          </a:xfrm>
        </p:grpSpPr>
        <p:sp>
          <p:nvSpPr>
            <p:cNvPr id="29" name="文本框 28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坑3 · 提示词过长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超长示例会消耗大量 Token 且容易失焦，应提炼最简 Few-Shot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避坑指南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9027795" y="1969770"/>
            <a:ext cx="2227580" cy="3340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4995545" y="1969135"/>
            <a:ext cx="2227580" cy="334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1081405" y="1969135"/>
            <a:ext cx="2227580" cy="33401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7368" y="3346977"/>
            <a:ext cx="3574248" cy="2239158"/>
            <a:chOff x="839416" y="3097665"/>
            <a:chExt cx="3574248" cy="2239158"/>
          </a:xfrm>
        </p:grpSpPr>
        <p:sp>
          <p:nvSpPr>
            <p:cNvPr id="8" name="文本框 7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1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设计 System Prompt，确保 95% 以上 JSON 格式正确率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322463" y="3313689"/>
            <a:ext cx="3574248" cy="2239158"/>
            <a:chOff x="839416" y="3097665"/>
            <a:chExt cx="3574248" cy="2239158"/>
          </a:xfrm>
        </p:grpSpPr>
        <p:sp>
          <p:nvSpPr>
            <p:cNvPr id="25" name="文本框 24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2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在后端加入 Markdown 清洗逻辑和容错解析机制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354911" y="3313689"/>
            <a:ext cx="3574248" cy="2239158"/>
            <a:chOff x="839416" y="3097665"/>
            <a:chExt cx="3574248" cy="2239158"/>
          </a:xfrm>
        </p:grpSpPr>
        <p:sp>
          <p:nvSpPr>
            <p:cNvPr id="29" name="文本框 28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3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完成最终闭环，演示对话生成多种业务场景的表单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实战任务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下周预告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本周成就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✓ 结构化 Prompt 设计
✓ Few-Shot 示例调优
✓ JSON 鲁棒性清洗
✓ 全栈应用贯通联调
✓ 幻觉控制与校验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【完结撒花】
恭喜完成《配置驱动 UI 开发》全部课程！
科技引领研发效能！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本周能力树 · 总结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54.xml><?xml version="1.0" encoding="utf-8"?>
<p:tagLst xmlns:p="http://schemas.openxmlformats.org/presentationml/2006/main">
  <p:tag name="ISPRING_PRESENTATION_TITLE" val="未来科技风格产品项目展示介绍PPT模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yyr4nmq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998C8C"/>
      </a:accent1>
      <a:accent2>
        <a:srgbClr val="646464"/>
      </a:accent2>
      <a:accent3>
        <a:srgbClr val="484545"/>
      </a:accent3>
      <a:accent4>
        <a:srgbClr val="6D615D"/>
      </a:accent4>
      <a:accent5>
        <a:srgbClr val="484545"/>
      </a:accent5>
      <a:accent6>
        <a:srgbClr val="6D615D"/>
      </a:accent6>
      <a:hlink>
        <a:srgbClr val="0563C1"/>
      </a:hlink>
      <a:folHlink>
        <a:srgbClr val="954D72"/>
      </a:folHlink>
    </a:clrScheme>
    <a:fontScheme name="agbvtnkv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4913</Words>
  <Application>WPS 演示</Application>
  <PresentationFormat>宽屏</PresentationFormat>
  <Paragraphs>453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6" baseType="lpstr">
      <vt:lpstr>Arial</vt:lpstr>
      <vt:lpstr>方正书宋_GBK</vt:lpstr>
      <vt:lpstr>Wingdings</vt:lpstr>
      <vt:lpstr>方正姚体简体</vt:lpstr>
      <vt:lpstr>苹方-简</vt:lpstr>
      <vt:lpstr>Calibri</vt:lpstr>
      <vt:lpstr>Helvetica Neue</vt:lpstr>
      <vt:lpstr>宋体</vt:lpstr>
      <vt:lpstr>汉仪书宋二KW</vt:lpstr>
      <vt:lpstr>Impact</vt:lpstr>
      <vt:lpstr>微软雅黑</vt:lpstr>
      <vt:lpstr>Microsoft YaHei Bold</vt:lpstr>
      <vt:lpstr>Arial</vt:lpstr>
      <vt:lpstr>Lato Light</vt:lpstr>
      <vt:lpstr>Open Sans</vt:lpstr>
      <vt:lpstr>Roboto Light</vt:lpstr>
      <vt:lpstr>Thonburi</vt:lpstr>
      <vt:lpstr>Microsoft YaHei</vt:lpstr>
      <vt:lpstr>宋体</vt:lpstr>
      <vt:lpstr>Arial Unicode MS</vt:lpstr>
      <vt:lpstr>汉仪旗黑-55简</vt:lpstr>
      <vt:lpstr>Impact MT Std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未来科技风格产品项目展示介绍PPT模板</dc:title>
  <dc:creator>春秋视觉工作室</dc:creator>
  <cp:lastModifiedBy>houzhongxiang</cp:lastModifiedBy>
  <cp:revision>399</cp:revision>
  <dcterms:created xsi:type="dcterms:W3CDTF">2022-06-22T02:32:39Z</dcterms:created>
  <dcterms:modified xsi:type="dcterms:W3CDTF">2022-06-22T02:32:39Z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2052-3.9.2.6301</vt:lpwstr>
  </property>
</Properties>
</file>