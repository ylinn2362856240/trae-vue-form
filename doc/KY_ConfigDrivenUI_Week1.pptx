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5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handoutMasterIdLst>
    <p:handoutMasterId r:id="rId27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A1"/>
    <a:srgbClr val="0053B5"/>
    <a:srgbClr val="004B9F"/>
    <a:srgbClr val="08112D"/>
    <a:srgbClr val="06438B"/>
    <a:srgbClr val="063E89"/>
    <a:srgbClr val="0058C7"/>
    <a:srgbClr val="0051B2"/>
    <a:srgbClr val="00479E"/>
    <a:srgbClr val="053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12" autoAdjust="0"/>
    <p:restoredTop sz="95109" autoAdjust="0"/>
  </p:normalViewPr>
  <p:slideViewPr>
    <p:cSldViewPr>
      <p:cViewPr varScale="1">
        <p:scale>
          <a:sx n="100" d="100"/>
          <a:sy n="100" d="100"/>
        </p:scale>
        <p:origin x="162" y="72"/>
      </p:cViewPr>
      <p:guideLst>
        <p:guide orient="horz" pos="2090"/>
        <p:guide pos="389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tags" Target="tags/tag5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E3CDE-72A8-4BCE-8D8E-0AD93353D2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83835-5FA0-4497-8FBE-4A089E5F9A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欢迎来到配置驱动UI开发第一周。核心目标：理解配置驱动，设计Spec协议，实现Form/Table自动渲染。沿着理念→协议→引擎→避坑这条主线展开。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今天议程：从理念到协议，再到引擎实现和避坑，最后实战。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四个目标构成完整闭环：理解理念→约定协议→实现引擎→掌握映射。达到这些目标后，能独立搭建JSON驱动的表单表格渲染系统。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传统做法在template里死写组件，字段一变就改代码。配置驱动是把UI抽象成数据描述，渲染引擎根据配置动态生成，彻底解耦。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Spec分为form和table两大分支，共享字段定义体系，后续可轻松串联成筛选列表页。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ComponentMap就像组件字典。配置里写type:'date'，引擎就从字典取出DateField。扩展成本极低。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resolveComponent是引擎心脏。找不到对应组件时一定要兜底，返回UnknownField占位并warn。否则一个typo就让整页白屏。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FormRenderer本质是一个循环。遍历fields数组，用&lt;component :is&gt;动态加载，v-bind把props透传下去，v-model绑定到formData。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三个新人必踩的坑。记住这三点，能节省80%的调试时间。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实战任务：从零开发DateField组件，注册进componentMap，修改Spec加上type:'date'字段。时间20分钟。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本周完成配置驱动UI从0到1。下周扩展TableRenderer和表单联动。作业：完善DateField的校验逻辑。下课。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ctr" defTabSz="121856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恺域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18800" y="153670"/>
            <a:ext cx="1264285" cy="29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 descr="图片1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635"/>
            <a:ext cx="12185015" cy="68599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866" b="2111"/>
          <a:stretch>
            <a:fillRect/>
          </a:stretch>
        </p:blipFill>
        <p:spPr>
          <a:xfrm flipV="1">
            <a:off x="0" y="-1746885"/>
            <a:ext cx="11918950" cy="8641080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2104571" y="2467113"/>
            <a:ext cx="7982858" cy="1198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90204" pitchFamily="34" charset="0"/>
              </a:defRPr>
            </a:lvl1pPr>
          </a:lstStyle>
          <a:p>
            <a:r>
              <a:rPr lang="zh-CN" altLang="en-US" sz="7200" spc="0" dirty="0">
                <a:latin typeface="+mn-lt"/>
                <a:ea typeface="+mn-ea"/>
                <a:cs typeface="+mn-ea"/>
                <a:sym typeface="+mn-lt"/>
              </a:rPr>
              <a:t>配置驱动 UI 开发 · Week 1</a:t>
            </a:r>
            <a:endParaRPr lang="zh-CN" altLang="en-US" sz="7200" spc="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矩形 17" descr="e7d195523061f1c01ef2b70529884c179423570dbaad84926380ABC1F97BAEF0C8FC051856578EAB7874501A1FFE158C4981707381814BCC4D9A8E3554438DEE4FBCF5A5B4D2A8B0989AB57E8BAC65EBA34ED8FB1A48FECAC0ED8A4DF70CC7B90FD7A086B1F16DEEBEB2C5CF2C88846FC5891EC4571F9415002F4432C631761E04B37734D4BF7664"/>
          <p:cNvSpPr>
            <a:spLocks noChangeArrowheads="1"/>
          </p:cNvSpPr>
          <p:nvPr/>
        </p:nvSpPr>
        <p:spPr bwMode="auto">
          <a:xfrm>
            <a:off x="2326349" y="3666172"/>
            <a:ext cx="7539301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/>
            <a:r>
              <a:rPr lang="en-US" altLang="zh-CN" sz="1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Spec 协议 · 组件映射 · 表单/表格自动渲染</a:t>
            </a:r>
            <a:endParaRPr lang="en-US" altLang="zh-CN" sz="1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 descr="kaiyu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" y="455295"/>
            <a:ext cx="1369695" cy="31432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824865" y="5755640"/>
            <a:ext cx="10473055" cy="610235"/>
            <a:chOff x="1186" y="8619"/>
            <a:chExt cx="16493" cy="961"/>
          </a:xfrm>
        </p:grpSpPr>
        <p:sp>
          <p:nvSpPr>
            <p:cNvPr id="2" name="AutoShape 5" descr="e7d195523061f1c01ef2b70529884c179423570dbaad84926380ABC1F97BAEF0C8FC051856578EAB7874501A1FFE158C4981707381814BCC4D9A8E3554438DEE4FBCF5A5B4D2A8B0989AB57E8BAC65EBC5561CC52632EE71BE3CB3E7D795CEBC0BBDEFA9B9283E81C288202D1B58F5340AE72D810F7EE0B794D3E42EDE13B2B641478E5140378E24B535FE96983F6D4F"/>
            <p:cNvSpPr/>
            <p:nvPr>
              <p:custDataLst>
                <p:tags r:id="rId5"/>
              </p:custDataLst>
            </p:nvPr>
          </p:nvSpPr>
          <p:spPr bwMode="auto">
            <a:xfrm>
              <a:off x="1343" y="9247"/>
              <a:ext cx="6988" cy="2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</a:t>
              </a:r>
              <a:endParaRPr lang="en-US" altLang="zh-CN" sz="900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6" name="TextBox 15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/>
            <p:cNvSpPr txBox="1"/>
            <p:nvPr>
              <p:custDataLst>
                <p:tags r:id="rId6"/>
              </p:custDataLst>
            </p:nvPr>
          </p:nvSpPr>
          <p:spPr>
            <a:xfrm>
              <a:off x="1186" y="8619"/>
              <a:ext cx="8490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60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l"/>
              <a:r>
                <a:rPr lang="zh-CN" altLang="en-US" sz="2000" b="1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小标题小标题</a:t>
              </a:r>
              <a:endParaRPr lang="zh-CN" altLang="en-US" sz="2000" b="1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7" name="AutoShape 5" descr="e7d195523061f1c01ef2b70529884c179423570dbaad84926380ABC1F97BAEF0C8FC051856578EAB7874501A1FFE158C4981707381814BCC4D9A8E3554438DEE4FBCF5A5B4D2A8B0989AB57E8BAC65EBC5561CC52632EE71BE3CB3E7D795CEBC0BBDEFA9B9283E81C288202D1B58F5340AE72D810F7EE0B794D3E42EDE13B2B641478E5140378E24B535FE96983F6D4F"/>
            <p:cNvSpPr/>
            <p:nvPr>
              <p:custDataLst>
                <p:tags r:id="rId7"/>
              </p:custDataLst>
            </p:nvPr>
          </p:nvSpPr>
          <p:spPr bwMode="auto">
            <a:xfrm>
              <a:off x="11693" y="9174"/>
              <a:ext cx="5986" cy="40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algn="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2022</a:t>
              </a:r>
              <a:r>
                <a:rPr lang="zh-CN" alt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年</a:t>
              </a:r>
              <a:r>
                <a:rPr lang="en-US" altLang="zh-CN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6</a:t>
              </a:r>
              <a:r>
                <a:rPr lang="zh-CN" alt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月</a:t>
              </a:r>
              <a:endParaRPr lang="zh-CN" altLang="en-US" sz="1400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sp>
        <p:nvSpPr>
          <p:cNvPr id="8" name="流程图: 可选过程 7"/>
          <p:cNvSpPr/>
          <p:nvPr/>
        </p:nvSpPr>
        <p:spPr>
          <a:xfrm>
            <a:off x="637540" y="5807710"/>
            <a:ext cx="76200" cy="512445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20370"/>
            <a:ext cx="2965450" cy="6437630"/>
          </a:xfrm>
          <a:prstGeom prst="rect">
            <a:avLst/>
          </a:prstGeom>
          <a:gradFill>
            <a:gsLst>
              <a:gs pos="0">
                <a:srgbClr val="00479E"/>
              </a:gs>
              <a:gs pos="100000">
                <a:srgbClr val="1B336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3995" y="1781175"/>
            <a:ext cx="3394075" cy="5093335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554355" y="1309370"/>
            <a:ext cx="1275080" cy="6451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90204" pitchFamily="34" charset="0"/>
              </a:defRPr>
            </a:lvl1pPr>
          </a:lstStyle>
          <a:p>
            <a:pPr algn="l"/>
            <a:r>
              <a:rPr lang="zh-CN" altLang="en-US" sz="3600" spc="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rPr>
              <a:t>目录</a:t>
            </a:r>
            <a:endParaRPr lang="zh-CN" altLang="en-US" sz="3600" spc="0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90204" pitchFamily="34" charset="0"/>
              <a:ea typeface="汉仪旗黑-55简" panose="00020600040101010101" charset="-122"/>
              <a:cs typeface="+mn-ea"/>
              <a:sym typeface="+mn-lt"/>
            </a:endParaRPr>
          </a:p>
        </p:txBody>
      </p:sp>
      <p:sp>
        <p:nvSpPr>
          <p:cNvPr id="16" name="TextBox 15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/>
          <p:cNvSpPr txBox="1"/>
          <p:nvPr>
            <p:custDataLst>
              <p:tags r:id="rId2"/>
            </p:custDataLst>
          </p:nvPr>
        </p:nvSpPr>
        <p:spPr>
          <a:xfrm>
            <a:off x="554355" y="5493385"/>
            <a:ext cx="21272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6000">
                <a:ln w="38100">
                  <a:noFill/>
                </a:ln>
                <a:solidFill>
                  <a:schemeClr val="bg1"/>
                </a:solidFill>
                <a:latin typeface="Impact" panose="020B0806030902050204" pitchFamily="34" charset="0"/>
                <a:ea typeface="微软雅黑" panose="020B0502040204020203" pitchFamily="34" charset="-122"/>
              </a:defRPr>
            </a:lvl1pPr>
          </a:lstStyle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rPr>
              <a:t>contents</a:t>
            </a:r>
            <a:endParaRPr lang="en-US" altLang="zh-CN" sz="1600" b="1" dirty="0">
              <a:solidFill>
                <a:schemeClr val="bg1"/>
              </a:solidFill>
              <a:latin typeface="Arial" panose="020B0604020202090204" pitchFamily="34" charset="0"/>
              <a:ea typeface="汉仪旗黑-55简" panose="00020600040101010101" charset="-122"/>
              <a:cs typeface="+mn-ea"/>
              <a:sym typeface="+mn-lt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482715" y="939800"/>
            <a:ext cx="2477135" cy="840740"/>
            <a:chOff x="5522" y="1826"/>
            <a:chExt cx="3901" cy="1324"/>
          </a:xfrm>
        </p:grpSpPr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23" name="组合 22"/>
            <p:cNvGrpSpPr/>
            <p:nvPr/>
          </p:nvGrpSpPr>
          <p:grpSpPr>
            <a:xfrm>
              <a:off x="5765" y="2069"/>
              <a:ext cx="3659" cy="838"/>
              <a:chOff x="6647" y="2245"/>
              <a:chExt cx="3659" cy="838"/>
            </a:xfrm>
          </p:grpSpPr>
          <p:sp>
            <p:nvSpPr>
    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1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6647" y="2245"/>
                <a:ext cx="839" cy="838"/>
                <a:chOff x="6708" y="3228"/>
                <a:chExt cx="839" cy="838"/>
              </a:xfrm>
            </p:grpSpPr>
            <p:sp>
              <p:nvSpPr>
                <p:cNvPr id="21" name="AutoShape 10"/>
                <p:cNvSpPr/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01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54" name="组合 53"/>
          <p:cNvGrpSpPr/>
          <p:nvPr/>
        </p:nvGrpSpPr>
        <p:grpSpPr>
          <a:xfrm>
            <a:off x="6482715" y="1989455"/>
            <a:ext cx="2477770" cy="841375"/>
            <a:chOff x="5522" y="1826"/>
            <a:chExt cx="3902" cy="1325"/>
          </a:xfrm>
        </p:grpSpPr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56" name="组合 55"/>
            <p:cNvGrpSpPr/>
            <p:nvPr/>
          </p:nvGrpSpPr>
          <p:grpSpPr>
            <a:xfrm>
              <a:off x="5765" y="2069"/>
              <a:ext cx="3659" cy="839"/>
              <a:chOff x="6647" y="2245"/>
              <a:chExt cx="3659" cy="839"/>
            </a:xfrm>
          </p:grpSpPr>
          <p:sp>
            <p:nvSpPr>
              <p:cNvPr id="5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2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6647" y="2245"/>
                <a:ext cx="840" cy="839"/>
                <a:chOff x="6708" y="3228"/>
                <a:chExt cx="840" cy="839"/>
              </a:xfrm>
            </p:grpSpPr>
            <p:sp>
              <p:nvSpPr>
                <p:cNvPr id="59" name="AutoShape 10"/>
                <p:cNvSpPr/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02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61" name="组合 60"/>
          <p:cNvGrpSpPr/>
          <p:nvPr/>
        </p:nvGrpSpPr>
        <p:grpSpPr>
          <a:xfrm>
            <a:off x="6482715" y="3011805"/>
            <a:ext cx="2477770" cy="841375"/>
            <a:chOff x="5522" y="1826"/>
            <a:chExt cx="3902" cy="1325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63" name="组合 62"/>
            <p:cNvGrpSpPr/>
            <p:nvPr/>
          </p:nvGrpSpPr>
          <p:grpSpPr>
            <a:xfrm>
              <a:off x="5765" y="2069"/>
              <a:ext cx="3659" cy="839"/>
              <a:chOff x="6647" y="2245"/>
              <a:chExt cx="3659" cy="839"/>
            </a:xfrm>
          </p:grpSpPr>
          <p:sp>
            <p:nvSpPr>
              <p:cNvPr id="6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3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6647" y="2245"/>
                <a:ext cx="840" cy="839"/>
                <a:chOff x="6708" y="3228"/>
                <a:chExt cx="840" cy="839"/>
              </a:xfrm>
            </p:grpSpPr>
            <p:sp>
              <p:nvSpPr>
                <p:cNvPr id="66" name="AutoShape 10"/>
                <p:cNvSpPr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03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cxnSp>
        <p:nvCxnSpPr>
          <p:cNvPr id="68" name="直接连接符 67"/>
          <p:cNvCxnSpPr/>
          <p:nvPr/>
        </p:nvCxnSpPr>
        <p:spPr>
          <a:xfrm>
            <a:off x="637540" y="5948045"/>
            <a:ext cx="12198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3655060" y="939800"/>
            <a:ext cx="2827655" cy="1014730"/>
            <a:chOff x="10319" y="1402"/>
            <a:chExt cx="4453" cy="1598"/>
          </a:xfrm>
        </p:grpSpPr>
        <p:grpSp>
          <p:nvGrpSpPr>
            <p:cNvPr id="76" name="组合 75"/>
            <p:cNvGrpSpPr/>
            <p:nvPr/>
          </p:nvGrpSpPr>
          <p:grpSpPr>
            <a:xfrm>
              <a:off x="10319" y="1402"/>
              <a:ext cx="1811" cy="1598"/>
              <a:chOff x="10234" y="5569"/>
              <a:chExt cx="1811" cy="1598"/>
            </a:xfrm>
          </p:grpSpPr>
          <p:grpSp>
            <p:nvGrpSpPr>
              <p:cNvPr id="72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73" name="Freeform 17"/>
                <p:cNvSpPr>
                  <a:spLocks noChangeAspect="1"/>
                </p:cNvSpPr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 26"/>
                <p:cNvSpPr>
                  <a:spLocks noChangeAspect="1"/>
                </p:cNvSpPr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01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7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16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1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3655060" y="2226945"/>
            <a:ext cx="2827655" cy="1014730"/>
            <a:chOff x="10319" y="1402"/>
            <a:chExt cx="4453" cy="1598"/>
          </a:xfrm>
        </p:grpSpPr>
        <p:grpSp>
          <p:nvGrpSpPr>
            <p:cNvPr id="80" name="组合 79"/>
            <p:cNvGrpSpPr/>
            <p:nvPr/>
          </p:nvGrpSpPr>
          <p:grpSpPr>
            <a:xfrm>
              <a:off x="10319" y="1402"/>
              <a:ext cx="1812" cy="1598"/>
              <a:chOff x="10234" y="5569"/>
              <a:chExt cx="1812" cy="1598"/>
            </a:xfrm>
          </p:grpSpPr>
          <p:grpSp>
            <p:nvGrpSpPr>
              <p:cNvPr id="81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82" name="Freeform 17"/>
                <p:cNvSpPr>
                  <a:spLocks noChangeAspect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Freeform 26"/>
                <p:cNvSpPr>
                  <a:spLocks noChangeAspect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8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02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8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20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2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3655060" y="3514090"/>
            <a:ext cx="2827655" cy="1014730"/>
            <a:chOff x="10319" y="1402"/>
            <a:chExt cx="4453" cy="1598"/>
          </a:xfrm>
        </p:grpSpPr>
        <p:grpSp>
          <p:nvGrpSpPr>
            <p:cNvPr id="87" name="组合 86"/>
            <p:cNvGrpSpPr/>
            <p:nvPr/>
          </p:nvGrpSpPr>
          <p:grpSpPr>
            <a:xfrm>
              <a:off x="10319" y="1402"/>
              <a:ext cx="1812" cy="1598"/>
              <a:chOff x="10234" y="5569"/>
              <a:chExt cx="1812" cy="1598"/>
            </a:xfrm>
          </p:grpSpPr>
          <p:grpSp>
            <p:nvGrpSpPr>
              <p:cNvPr id="88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89" name="Freeform 17"/>
                <p:cNvSpPr>
                  <a:spLocks noChangeAspect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Freeform 26"/>
                <p:cNvSpPr>
                  <a:spLocks noChangeAspect="1"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91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03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9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24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3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6640830" y="4142105"/>
            <a:ext cx="3293745" cy="431800"/>
            <a:chOff x="1803" y="1839"/>
            <a:chExt cx="5187" cy="680"/>
          </a:xfrm>
        </p:grpSpPr>
        <p:sp>
          <p:nvSpPr>
            <p:cNvPr id="98" name="圆角矩形 97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0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6640830" y="4988560"/>
            <a:ext cx="3293745" cy="431800"/>
            <a:chOff x="1803" y="1839"/>
            <a:chExt cx="5187" cy="680"/>
          </a:xfrm>
        </p:grpSpPr>
        <p:sp>
          <p:nvSpPr>
            <p:cNvPr id="102" name="圆角矩形 101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4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6640830" y="5819775"/>
            <a:ext cx="3293745" cy="431800"/>
            <a:chOff x="1803" y="1839"/>
            <a:chExt cx="5187" cy="680"/>
          </a:xfrm>
        </p:grpSpPr>
        <p:sp>
          <p:nvSpPr>
            <p:cNvPr id="106" name="圆角矩形 105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8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 rot="0">
            <a:off x="1033145" y="1579245"/>
            <a:ext cx="2516505" cy="2517140"/>
            <a:chOff x="6712" y="404664"/>
            <a:chExt cx="6259809" cy="6259809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42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2717800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数据描述 UI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告别模板硬编码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JSON 驱动视图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2054225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📖 理解配置驱动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5" name="五边形 4"/>
          <p:cNvSpPr/>
          <p:nvPr/>
        </p:nvSpPr>
        <p:spPr>
          <a:xfrm>
            <a:off x="3549650" y="249491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 rot="0">
            <a:off x="6026150" y="1569085"/>
            <a:ext cx="2516505" cy="2517140"/>
            <a:chOff x="6712" y="404664"/>
            <a:chExt cx="6259809" cy="6259809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17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8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2707640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标准化 form 结构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标准化 table 结构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统一配置协议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2044065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📐 设计Spec协议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0" name="五边形 19"/>
          <p:cNvSpPr/>
          <p:nvPr/>
        </p:nvSpPr>
        <p:spPr>
          <a:xfrm>
            <a:off x="8542655" y="248475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 rot="0">
            <a:off x="1033145" y="3882390"/>
            <a:ext cx="2516505" cy="2517140"/>
            <a:chOff x="6712" y="404664"/>
            <a:chExt cx="6259809" cy="6259809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23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5020945"/>
            <a:ext cx="1981200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FormRenderer 表单渲染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TableRenderer 表格渲染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动态组件加载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响应式数据绑定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4357370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🖥️ 实现渲染引擎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7" name="五边形 26"/>
          <p:cNvSpPr/>
          <p:nvPr/>
        </p:nvSpPr>
        <p:spPr>
          <a:xfrm>
            <a:off x="3549650" y="479806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 rot="0">
            <a:off x="6026150" y="3872230"/>
            <a:ext cx="2516505" cy="2517140"/>
            <a:chOff x="6712" y="404664"/>
            <a:chExt cx="6259809" cy="6259809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33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5010785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type→组件映射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兜底策略设计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扩展无需改引擎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4347210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🧩 掌握componentMap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37" name="五边形 36"/>
          <p:cNvSpPr/>
          <p:nvPr/>
        </p:nvSpPr>
        <p:spPr>
          <a:xfrm>
            <a:off x="8542655" y="478790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3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Week1 目标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什么是配置驱动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  <p:sp>
        <p:nvSpPr>
          <p:cNvPr id="28" name="TextBox 27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微软雅黑"/>
              </a:defRPr>
            </a:pPr>
            <a:r>
              <a:t>旧模式：模板硬编码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4688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每页重复开发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字段与 UI 强耦合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变更需修改代码重新部署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743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E8"/>
                </a:solidFill>
                <a:latin typeface="微软雅黑"/>
              </a:defRPr>
            </a:pPr>
            <a:r>
              <a:t>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E8"/>
                </a:solidFill>
                <a:latin typeface="微软雅黑"/>
              </a:defRPr>
            </a:pPr>
            <a:r>
              <a:t>新模式：数据即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4688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一份 Spec 驱动多种视图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JSON 配置：{type:"input", label:"姓名"}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灵活性与自动化倍增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Spec 协议设计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  <p:sp>
        <p:nvSpPr>
          <p:cNvPr id="28" name="TextBox 27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E8"/>
                </a:solidFill>
                <a:latin typeface="微软雅黑"/>
              </a:defRPr>
            </a:pPr>
            <a:r>
              <a:t>form 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EE787"/>
                </a:solidFill>
                <a:latin typeface="微软雅黑"/>
              </a:defRPr>
            </a:pPr>
            <a:r>
              <a:t>{</a:t>
            </a:r>
            <a:br/>
            <a:r>
              <a:t>  "form": [</a:t>
            </a:r>
            <a:br/>
            <a:r>
              <a:t>    { "type": "input", "label": "姓名", "model": "name" },</a:t>
            </a:r>
            <a:br/>
            <a:r>
              <a:t>    { "type": "select", "label": "性别", "model": "gender" 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E8"/>
                </a:solidFill>
                <a:latin typeface="微软雅黑"/>
              </a:defRPr>
            </a:pPr>
            <a:r>
              <a:t>table 配置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EE787"/>
                </a:solidFill>
                <a:latin typeface="微软雅黑"/>
              </a:defRPr>
            </a:pPr>
            <a:r>
              <a:t>{</a:t>
            </a:r>
            <a:br/>
            <a:r>
              <a:t>  "table": [</a:t>
            </a:r>
            <a:br/>
            <a:r>
              <a:t>    { "label": "姓名", "prop": "name" },</a:t>
            </a:r>
            <a:br/>
            <a:r>
              <a:t>    { "label": "状态", "prop": "status" 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6CB0"/>
                </a:solidFill>
                <a:latin typeface="微软雅黑"/>
              </a:defRPr>
            </a:pPr>
            <a:r>
              <a:t>核心原则：一份 JSON，驱动页面全部交互元素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ComponentMap 机制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  <p:sp>
        <p:nvSpPr>
          <p:cNvPr id="28" name="TextBox 27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E8"/>
                </a:solidFill>
                <a:latin typeface="微软雅黑"/>
              </a:defRPr>
            </a:pPr>
            <a:r>
              <a:t>type → 组件映射表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EE787"/>
                </a:solidFill>
                <a:latin typeface="微软雅黑"/>
              </a:defRPr>
            </a:pPr>
            <a:r>
              <a:t>export const componentMap = {</a:t>
            </a:r>
            <a:br/>
            <a:r>
              <a:t>  input:  InputField,</a:t>
            </a:r>
            <a:br/>
            <a:r>
              <a:t>  select: SelectField,</a:t>
            </a:r>
            <a:br/>
            <a:r>
              <a:t>  number: NumberField,</a:t>
            </a:r>
            <a:br/>
            <a:r>
              <a:t>  date:   DateField</a:t>
            </a:r>
            <a:br/>
            <a: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统一管理所有可用组件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type → 组件是解耦的关键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新增组件只需注册，不碰引擎代码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resolveComponent 兜底流程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  <p:sp>
        <p:nvSpPr>
          <p:cNvPr id="28" name="TextBox 27"/>
          <p:cNvSpPr txBox="1"/>
          <p:nvPr/>
        </p:nvSpPr>
        <p:spPr>
          <a:xfrm>
            <a:off x="914400" y="21031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1.  输入 type 字符串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2.  查找 componentMap[type]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3.  找到 → 返回组件实例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4.  未找到 → 检查是否有兜底组件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5.  有兜底 → 返回 UnknownField 占位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6.  无兜底 → console.warn + 渲染空节点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5603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微软雅黑"/>
              </a:defRPr>
            </a:pPr>
            <a:r>
              <a:t>生产环境严禁直接崩溃</a:t>
            </a:r>
            <a:br/>
            <a:r>
              <a:t>应降级渲染并报警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FormRenderer 核心实现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  <p:sp>
        <p:nvSpPr>
          <p:cNvPr id="28" name="TextBox 27"/>
          <p:cNvSpPr txBox="1"/>
          <p:nvPr/>
        </p:nvSpPr>
        <p:spPr>
          <a:xfrm>
            <a:off x="914400" y="2103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EE787"/>
                </a:solidFill>
                <a:latin typeface="微软雅黑"/>
              </a:defRPr>
            </a:pPr>
            <a:r>
              <a:t>&lt;template v-for="item in schema" :key="item.model"&gt;</a:t>
            </a:r>
            <a:br/>
            <a:r>
              <a:t>  &lt;el-form-item :label="item.label"&gt;</a:t>
            </a:r>
            <a:br/>
            <a:r>
              <a:t>    &lt;component</a:t>
            </a:r>
            <a:br/>
            <a:r>
              <a:t>      :is="resolveComponent(item.type)"</a:t>
            </a:r>
            <a:br/>
            <a:r>
              <a:t>      v-bind="item"</a:t>
            </a:r>
            <a:br/>
            <a:r>
              <a:t>      v-model="model[item.model]"</a:t>
            </a:r>
            <a:br/>
            <a:r>
              <a:t>    /&gt;</a:t>
            </a:r>
            <a:br/>
            <a:r>
              <a:t>  &lt;/el-form-item&gt;</a:t>
            </a:r>
            <a:br/>
            <a:r>
              <a:t>&lt;/template&gt;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2860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动态组件 &lt;component :is&gt;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v-bind 透传所有配置属性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v-model 实现双向数据绑定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修改 JSON 即刻改变界面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避坑指南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  <p:sp>
        <p:nvSpPr>
          <p:cNvPr id="28" name="Rectangle 27"/>
          <p:cNvSpPr/>
          <p:nvPr/>
        </p:nvSpPr>
        <p:spPr>
          <a:xfrm>
            <a:off x="1097280" y="2011680"/>
            <a:ext cx="9601200" cy="1097280"/>
          </a:xfrm>
          <a:prstGeom prst="rect">
            <a:avLst/>
          </a:prstGeom>
          <a:solidFill>
            <a:srgbClr val="382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600" b="1">
                <a:solidFill>
                  <a:srgbClr val="FF8C00"/>
                </a:solidFill>
                <a:latin typeface="微软雅黑"/>
              </a:defRPr>
            </a:pPr>
            <a:r>
              <a:t>坑1 · 响应式初始化</a:t>
            </a:r>
          </a:p>
          <a:p>
            <a:pPr>
              <a:defRPr sz="1300">
                <a:solidFill>
                  <a:srgbClr val="FFFFFF"/>
                </a:solidFill>
                <a:latin typeface="微软雅黑"/>
              </a:defRPr>
            </a:pPr>
            <a:r>
              <a:t>formData 必须基于 Spec 的 key 提前用 reactive 初始化，空对象会导致 v-model 绑定失效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3291840"/>
            <a:ext cx="9601200" cy="1097280"/>
          </a:xfrm>
          <a:prstGeom prst="rect">
            <a:avLst/>
          </a:prstGeom>
          <a:solidFill>
            <a:srgbClr val="382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600" b="1">
                <a:solidFill>
                  <a:srgbClr val="FF8C00"/>
                </a:solidFill>
                <a:latin typeface="微软雅黑"/>
              </a:defRPr>
            </a:pPr>
            <a:r>
              <a:t>坑2 · type 严格一致</a:t>
            </a:r>
          </a:p>
          <a:p>
            <a:pPr>
              <a:defRPr sz="1300">
                <a:solidFill>
                  <a:srgbClr val="FFFFFF"/>
                </a:solidFill>
                <a:latin typeface="微软雅黑"/>
              </a:defRPr>
            </a:pPr>
            <a:r>
              <a:t>ComponentMap 的 key 与 Spec 中的 type 字符串必须完全一致，区分大小写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4572000"/>
            <a:ext cx="9601200" cy="1097280"/>
          </a:xfrm>
          <a:prstGeom prst="rect">
            <a:avLst/>
          </a:prstGeom>
          <a:solidFill>
            <a:srgbClr val="382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600" b="1">
                <a:solidFill>
                  <a:srgbClr val="FF8C00"/>
                </a:solidFill>
                <a:latin typeface="微软雅黑"/>
              </a:defRPr>
            </a:pPr>
            <a:r>
              <a:t>坑3 · 组件必须注册</a:t>
            </a:r>
          </a:p>
          <a:p>
            <a:pPr>
              <a:defRPr sz="1300">
                <a:solidFill>
                  <a:srgbClr val="FFFFFF"/>
                </a:solidFill>
                <a:latin typeface="微软雅黑"/>
              </a:defRPr>
            </a:pPr>
            <a:r>
              <a:t>&lt;component :is&gt; 只认本地映射表解析出来的组件引用，全局注册无效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实战任务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  <p:sp>
        <p:nvSpPr>
          <p:cNvPr id="28" name="Rounded Rectangle 27"/>
          <p:cNvSpPr/>
          <p:nvPr/>
        </p:nvSpPr>
        <p:spPr>
          <a:xfrm>
            <a:off x="1371600" y="2286000"/>
            <a:ext cx="2743200" cy="2286000"/>
          </a:xfrm>
          <a:prstGeom prst="roundRect">
            <a:avLst/>
          </a:prstGeom>
          <a:solidFill>
            <a:srgbClr val="232B3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00D2E8"/>
                </a:solidFill>
                <a:latin typeface="微软雅黑"/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微软雅黑"/>
              </a:defRPr>
            </a:pPr>
            <a:r>
              <a:t>开发 DateField.vue</a:t>
            </a:r>
            <a:br/>
            <a:r>
              <a:t>日期选择器组件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2286000"/>
            <a:ext cx="2743200" cy="2286000"/>
          </a:xfrm>
          <a:prstGeom prst="roundRect">
            <a:avLst/>
          </a:prstGeom>
          <a:solidFill>
            <a:srgbClr val="232B3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00D2E8"/>
                </a:solidFill>
                <a:latin typeface="微软雅黑"/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微软雅黑"/>
              </a:defRPr>
            </a:pPr>
            <a:r>
              <a:t>注册 componentMap</a:t>
            </a:r>
            <a:br/>
            <a:r>
              <a:t>添加 date: DateField 映射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286000"/>
            <a:ext cx="2743200" cy="2286000"/>
          </a:xfrm>
          <a:prstGeom prst="roundRect">
            <a:avLst/>
          </a:prstGeom>
          <a:solidFill>
            <a:srgbClr val="232B3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00D2E8"/>
                </a:solidFill>
                <a:latin typeface="微软雅黑"/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微软雅黑"/>
              </a:defRPr>
            </a:pPr>
            <a:r>
              <a:t>修改 Spec 验证渲染</a:t>
            </a:r>
            <a:br/>
            <a:r>
              <a:t>添加 type:'date' 字段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6CB0"/>
                </a:solidFill>
                <a:latin typeface="微软雅黑"/>
              </a:defRPr>
            </a:pPr>
            <a:r>
              <a:t>验收：修改 Spec 中日期字段的 props，观察 UI 联动效果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本周能力树 · 总结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  <p:sp>
        <p:nvSpPr>
          <p:cNvPr id="28" name="TextBox 27"/>
          <p:cNvSpPr txBox="1"/>
          <p:nvPr/>
        </p:nvSpPr>
        <p:spPr>
          <a:xfrm>
            <a:off x="91440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  配置驱动理念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  Spec 协议设计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  ComponentMap 映射机制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  FormRenderer 渲染引擎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  三大避坑要点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E8"/>
                </a:solidFill>
                <a:latin typeface="微软雅黑"/>
              </a:defRPr>
            </a:pPr>
            <a:r>
              <a:t>下周预告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9260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扩展 TableRenderer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表单联动与校验规则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·  动态数据初始化</a:t>
            </a:r>
          </a:p>
        </p:txBody>
      </p:sp>
    </p:spTree>
  </p:cSld>
  <p:clrMapOvr>
    <a:masterClrMapping/>
  </p:clrMapOvr>
</p:sld>
</file>

<file path=ppt/tags/tag54.xml><?xml version="1.0" encoding="utf-8"?>
<p:tagLst xmlns:p="http://schemas.openxmlformats.org/presentationml/2006/main">
  <p:tag name="ISPRING_PRESENTATION_TITLE" val="未来科技风格产品项目展示介绍PPT模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yyr4nmq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998C8C"/>
      </a:accent1>
      <a:accent2>
        <a:srgbClr val="646464"/>
      </a:accent2>
      <a:accent3>
        <a:srgbClr val="484545"/>
      </a:accent3>
      <a:accent4>
        <a:srgbClr val="6D615D"/>
      </a:accent4>
      <a:accent5>
        <a:srgbClr val="484545"/>
      </a:accent5>
      <a:accent6>
        <a:srgbClr val="6D615D"/>
      </a:accent6>
      <a:hlink>
        <a:srgbClr val="0563C1"/>
      </a:hlink>
      <a:folHlink>
        <a:srgbClr val="954D72"/>
      </a:folHlink>
    </a:clrScheme>
    <a:fontScheme name="agbvtnkv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4913</Words>
  <Application>WPS 演示</Application>
  <PresentationFormat>宽屏</PresentationFormat>
  <Paragraphs>453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6" baseType="lpstr">
      <vt:lpstr>Arial</vt:lpstr>
      <vt:lpstr>方正书宋_GBK</vt:lpstr>
      <vt:lpstr>Wingdings</vt:lpstr>
      <vt:lpstr>方正姚体简体</vt:lpstr>
      <vt:lpstr>苹方-简</vt:lpstr>
      <vt:lpstr>Calibri</vt:lpstr>
      <vt:lpstr>Helvetica Neue</vt:lpstr>
      <vt:lpstr>宋体</vt:lpstr>
      <vt:lpstr>汉仪书宋二KW</vt:lpstr>
      <vt:lpstr>Impact</vt:lpstr>
      <vt:lpstr>微软雅黑</vt:lpstr>
      <vt:lpstr>Microsoft YaHei Bold</vt:lpstr>
      <vt:lpstr>Arial</vt:lpstr>
      <vt:lpstr>Lato Light</vt:lpstr>
      <vt:lpstr>Open Sans</vt:lpstr>
      <vt:lpstr>Roboto Light</vt:lpstr>
      <vt:lpstr>Thonburi</vt:lpstr>
      <vt:lpstr>Microsoft YaHei</vt:lpstr>
      <vt:lpstr>宋体</vt:lpstr>
      <vt:lpstr>Arial Unicode MS</vt:lpstr>
      <vt:lpstr>汉仪旗黑-55简</vt:lpstr>
      <vt:lpstr>Impact MT Std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未来科技风格产品项目展示介绍PPT模板</dc:title>
  <dc:creator>春秋视觉工作室</dc:creator>
  <cp:lastModifiedBy>houzhongxiang</cp:lastModifiedBy>
  <cp:revision>399</cp:revision>
  <dcterms:created xsi:type="dcterms:W3CDTF">2022-06-22T02:32:39Z</dcterms:created>
  <dcterms:modified xsi:type="dcterms:W3CDTF">2022-06-22T02:32:39Z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2052-3.9.2.6301</vt:lpwstr>
  </property>
</Properties>
</file>