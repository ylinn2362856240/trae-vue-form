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5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5"/>
  </p:notesMasterIdLst>
  <p:handoutMasterIdLst>
    <p:handoutMasterId r:id="rId27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A1"/>
    <a:srgbClr val="0053B5"/>
    <a:srgbClr val="004B9F"/>
    <a:srgbClr val="08112D"/>
    <a:srgbClr val="06438B"/>
    <a:srgbClr val="063E89"/>
    <a:srgbClr val="0058C7"/>
    <a:srgbClr val="0051B2"/>
    <a:srgbClr val="00479E"/>
    <a:srgbClr val="0535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12" autoAdjust="0"/>
    <p:restoredTop sz="95109" autoAdjust="0"/>
  </p:normalViewPr>
  <p:slideViewPr>
    <p:cSldViewPr>
      <p:cViewPr varScale="1">
        <p:scale>
          <a:sx n="100" d="100"/>
          <a:sy n="100" d="100"/>
        </p:scale>
        <p:origin x="162" y="72"/>
      </p:cViewPr>
      <p:guideLst>
        <p:guide orient="horz" pos="2090"/>
        <p:guide pos="389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Relationship Id="rId31" Type="http://schemas.openxmlformats.org/officeDocument/2006/relationships/tags" Target="tags/tag5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恺域科技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恺域科技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E3CDE-72A8-4BCE-8D8E-0AD93353D2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83835-5FA0-4497-8FBE-4A089E5F9A3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03860"/>
            <a:ext cx="7342505" cy="36000"/>
          </a:xfrm>
          <a:prstGeom prst="rect">
            <a:avLst/>
          </a:prstGeom>
          <a:solidFill>
            <a:srgbClr val="06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kaiyu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718800" y="153670"/>
            <a:ext cx="1264285" cy="290195"/>
          </a:xfrm>
          <a:prstGeom prst="rect">
            <a:avLst/>
          </a:prstGeom>
        </p:spPr>
      </p:pic>
      <p:sp>
        <p:nvSpPr>
          <p:cNvPr id="7" name="平行四边形 6"/>
          <p:cNvSpPr/>
          <p:nvPr userDrawn="1"/>
        </p:nvSpPr>
        <p:spPr>
          <a:xfrm>
            <a:off x="0" y="404495"/>
            <a:ext cx="9779000" cy="36000"/>
          </a:xfrm>
          <a:prstGeom prst="parallelogram">
            <a:avLst/>
          </a:prstGeom>
          <a:solidFill>
            <a:srgbClr val="004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平行四边形 7"/>
          <p:cNvSpPr/>
          <p:nvPr userDrawn="1"/>
        </p:nvSpPr>
        <p:spPr>
          <a:xfrm>
            <a:off x="9840595" y="404495"/>
            <a:ext cx="360045" cy="36000"/>
          </a:xfrm>
          <a:prstGeom prst="parallelogram">
            <a:avLst/>
          </a:prstGeom>
          <a:solidFill>
            <a:srgbClr val="0053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>
            <a:off x="10262235" y="405130"/>
            <a:ext cx="285115" cy="36000"/>
          </a:xfrm>
          <a:prstGeom prst="parallelogram">
            <a:avLst/>
          </a:prstGeom>
          <a:solidFill>
            <a:srgbClr val="0051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ctr" defTabSz="1218565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03860"/>
            <a:ext cx="7342505" cy="36000"/>
          </a:xfrm>
          <a:prstGeom prst="rect">
            <a:avLst/>
          </a:prstGeom>
          <a:solidFill>
            <a:srgbClr val="06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kaiyu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18800" y="153670"/>
            <a:ext cx="1264285" cy="290195"/>
          </a:xfrm>
          <a:prstGeom prst="rect">
            <a:avLst/>
          </a:prstGeom>
        </p:spPr>
      </p:pic>
      <p:sp>
        <p:nvSpPr>
          <p:cNvPr id="7" name="平行四边形 6"/>
          <p:cNvSpPr/>
          <p:nvPr userDrawn="1"/>
        </p:nvSpPr>
        <p:spPr>
          <a:xfrm>
            <a:off x="0" y="404495"/>
            <a:ext cx="9779000" cy="36000"/>
          </a:xfrm>
          <a:prstGeom prst="parallelogram">
            <a:avLst/>
          </a:prstGeom>
          <a:solidFill>
            <a:srgbClr val="004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平行四边形 7"/>
          <p:cNvSpPr/>
          <p:nvPr userDrawn="1"/>
        </p:nvSpPr>
        <p:spPr>
          <a:xfrm>
            <a:off x="9840595" y="404495"/>
            <a:ext cx="360045" cy="36000"/>
          </a:xfrm>
          <a:prstGeom prst="parallelogram">
            <a:avLst/>
          </a:prstGeom>
          <a:solidFill>
            <a:srgbClr val="0053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>
            <a:off x="10262235" y="405130"/>
            <a:ext cx="285115" cy="36000"/>
          </a:xfrm>
          <a:prstGeom prst="parallelogram">
            <a:avLst/>
          </a:prstGeom>
          <a:solidFill>
            <a:srgbClr val="0051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恺域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718800" y="153670"/>
            <a:ext cx="1264285" cy="2908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图片 3" descr="图片1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" y="635"/>
            <a:ext cx="12185015" cy="68599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0866" b="2111"/>
          <a:stretch>
            <a:fillRect/>
          </a:stretch>
        </p:blipFill>
        <p:spPr>
          <a:xfrm flipV="1">
            <a:off x="0" y="-1746885"/>
            <a:ext cx="11918950" cy="8641080"/>
          </a:xfrm>
          <a:prstGeom prst="rect">
            <a:avLst/>
          </a:prstGeom>
        </p:spPr>
      </p:pic>
      <p:sp>
        <p:nvSpPr>
          <p:cNvPr id="14" name="TextBox 47" descr="e7d195523061f1c01ef2b70529884c179423570dbaad84926380ABC1F97BAEF0C8FC051856578EAB7874501A1FFE158C4981707381814BCC4D9A8E3554438DEE4FBCF5A5B4D2A8B0989AB57E8BAC65EB51F56214CC8BE8DBC4C9F3C0BF9BC712216930D3F7819F3AB91D5534CAB687B24AE61786ED8145D8B1B6103300FCA0742D338447D98F942145D262F1393C862E"/>
          <p:cNvSpPr txBox="1"/>
          <p:nvPr/>
        </p:nvSpPr>
        <p:spPr>
          <a:xfrm>
            <a:off x="2104571" y="2467113"/>
            <a:ext cx="7982858" cy="11988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800" b="1" spc="300">
                <a:solidFill>
                  <a:schemeClr val="bg1"/>
                </a:solidFill>
                <a:effectLst>
                  <a:outerShdw blurRad="4191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姚体简体" panose="03000509000000000000" pitchFamily="65" charset="-122"/>
                <a:ea typeface="方正姚体简体" panose="03000509000000000000" pitchFamily="65" charset="-122"/>
                <a:cs typeface="Arial" panose="020B0604020202090204" pitchFamily="34" charset="0"/>
              </a:defRPr>
            </a:lvl1pPr>
          </a:lstStyle>
          <a:p>
            <a:r>
              <a:rPr lang="zh-CN" altLang="en-US" sz="7200" spc="0" dirty="0">
                <a:latin typeface="+mn-lt"/>
                <a:ea typeface="+mn-ea"/>
                <a:cs typeface="+mn-ea"/>
                <a:sym typeface="+mn-lt"/>
              </a:rPr>
              <a:t>TableRenderer 与表单联动 · Week 2</a:t>
            </a:r>
            <a:endParaRPr lang="zh-CN" altLang="en-US" sz="7200" spc="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矩形 17" descr="e7d195523061f1c01ef2b70529884c179423570dbaad84926380ABC1F97BAEF0C8FC051856578EAB7874501A1FFE158C4981707381814BCC4D9A8E3554438DEE4FBCF5A5B4D2A8B0989AB57E8BAC65EBA34ED8FB1A48FECAC0ED8A4DF70CC7B90FD7A086B1F16DEEBEB2C5CF2C88846FC5891EC4571F9415002F4432C631761E04B37734D4BF7664"/>
          <p:cNvSpPr>
            <a:spLocks noChangeArrowheads="1"/>
          </p:cNvSpPr>
          <p:nvPr/>
        </p:nvSpPr>
        <p:spPr bwMode="auto">
          <a:xfrm>
            <a:off x="2326349" y="3666172"/>
            <a:ext cx="7539301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/>
            <a:r>
              <a:rPr lang="en-US" altLang="zh-CN" sz="1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复杂表格渲染 · 表达式引擎 · 动态联动逻辑</a:t>
            </a:r>
            <a:endParaRPr lang="en-US" altLang="zh-CN" sz="1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片 4" descr="kaiyu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40" y="455295"/>
            <a:ext cx="1369695" cy="31432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824865" y="5755640"/>
            <a:ext cx="10473055" cy="610235"/>
            <a:chOff x="1186" y="8619"/>
            <a:chExt cx="16493" cy="961"/>
          </a:xfrm>
        </p:grpSpPr>
        <p:sp>
          <p:nvSpPr>
            <p:cNvPr id="2" name="AutoShape 5" descr="e7d195523061f1c01ef2b70529884c179423570dbaad84926380ABC1F97BAEF0C8FC051856578EAB7874501A1FFE158C4981707381814BCC4D9A8E3554438DEE4FBCF5A5B4D2A8B0989AB57E8BAC65EBC5561CC52632EE71BE3CB3E7D795CEBC0BBDEFA9B9283E81C288202D1B58F5340AE72D810F7EE0B794D3E42EDE13B2B641478E5140378E24B535FE96983F6D4F"/>
            <p:cNvSpPr/>
            <p:nvPr>
              <p:custDataLst>
                <p:tags r:id="rId5"/>
              </p:custDataLst>
            </p:nvPr>
          </p:nvSpPr>
          <p:spPr bwMode="auto">
            <a:xfrm>
              <a:off x="1343" y="9247"/>
              <a:ext cx="6988" cy="2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</a:t>
              </a:r>
              <a:endParaRPr lang="en-US" altLang="zh-CN" sz="900" dirty="0">
                <a:solidFill>
                  <a:schemeClr val="lt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6" name="TextBox 15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/>
            <p:cNvSpPr txBox="1"/>
            <p:nvPr>
              <p:custDataLst>
                <p:tags r:id="rId6"/>
              </p:custDataLst>
            </p:nvPr>
          </p:nvSpPr>
          <p:spPr>
            <a:xfrm>
              <a:off x="1186" y="8619"/>
              <a:ext cx="8490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60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l"/>
              <a:r>
                <a:rPr lang="zh-CN" altLang="en-US" sz="2000" b="1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小标题小标题</a:t>
              </a:r>
              <a:endParaRPr lang="zh-CN" altLang="en-US" sz="2000" b="1" dirty="0">
                <a:solidFill>
                  <a:schemeClr val="lt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7" name="AutoShape 5" descr="e7d195523061f1c01ef2b70529884c179423570dbaad84926380ABC1F97BAEF0C8FC051856578EAB7874501A1FFE158C4981707381814BCC4D9A8E3554438DEE4FBCF5A5B4D2A8B0989AB57E8BAC65EBC5561CC52632EE71BE3CB3E7D795CEBC0BBDEFA9B9283E81C288202D1B58F5340AE72D810F7EE0B794D3E42EDE13B2B641478E5140378E24B535FE96983F6D4F"/>
            <p:cNvSpPr/>
            <p:nvPr>
              <p:custDataLst>
                <p:tags r:id="rId7"/>
              </p:custDataLst>
            </p:nvPr>
          </p:nvSpPr>
          <p:spPr bwMode="auto">
            <a:xfrm>
              <a:off x="11693" y="9174"/>
              <a:ext cx="5986" cy="40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p>
              <a:pPr algn="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n-US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2022</a:t>
              </a:r>
              <a:r>
                <a:rPr lang="zh-CN" altLang="en-US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年</a:t>
              </a:r>
              <a:r>
                <a:rPr lang="en-US" altLang="zh-CN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6</a:t>
              </a:r>
              <a:r>
                <a:rPr lang="zh-CN" altLang="en-US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月</a:t>
              </a:r>
              <a:endParaRPr lang="zh-CN" altLang="en-US" sz="1400" dirty="0">
                <a:solidFill>
                  <a:schemeClr val="lt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sp>
        <p:nvSpPr>
          <p:cNvPr id="8" name="流程图: 可选过程 7"/>
          <p:cNvSpPr/>
          <p:nvPr/>
        </p:nvSpPr>
        <p:spPr>
          <a:xfrm>
            <a:off x="637540" y="5807710"/>
            <a:ext cx="76200" cy="512445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20370"/>
            <a:ext cx="2965450" cy="6437630"/>
          </a:xfrm>
          <a:prstGeom prst="rect">
            <a:avLst/>
          </a:prstGeom>
          <a:gradFill>
            <a:gsLst>
              <a:gs pos="0">
                <a:srgbClr val="00479E"/>
              </a:gs>
              <a:gs pos="100000">
                <a:srgbClr val="1B336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3995" y="1781175"/>
            <a:ext cx="3394075" cy="5093335"/>
          </a:xfrm>
          <a:prstGeom prst="rect">
            <a:avLst/>
          </a:prstGeom>
        </p:spPr>
      </p:pic>
      <p:sp>
        <p:nvSpPr>
          <p:cNvPr id="14" name="TextBox 47" descr="e7d195523061f1c01ef2b70529884c179423570dbaad84926380ABC1F97BAEF0C8FC051856578EAB7874501A1FFE158C4981707381814BCC4D9A8E3554438DEE4FBCF5A5B4D2A8B0989AB57E8BAC65EB51F56214CC8BE8DBC4C9F3C0BF9BC712216930D3F7819F3AB91D5534CAB687B24AE61786ED8145D8B1B6103300FCA0742D338447D98F942145D262F1393C862E"/>
          <p:cNvSpPr txBox="1"/>
          <p:nvPr/>
        </p:nvSpPr>
        <p:spPr>
          <a:xfrm>
            <a:off x="554355" y="1309370"/>
            <a:ext cx="1275080" cy="6451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800" b="1" spc="300">
                <a:solidFill>
                  <a:schemeClr val="bg1"/>
                </a:solidFill>
                <a:effectLst>
                  <a:outerShdw blurRad="4191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姚体简体" panose="03000509000000000000" pitchFamily="65" charset="-122"/>
                <a:ea typeface="方正姚体简体" panose="03000509000000000000" pitchFamily="65" charset="-122"/>
                <a:cs typeface="Arial" panose="020B0604020202090204" pitchFamily="34" charset="0"/>
              </a:defRPr>
            </a:lvl1pPr>
          </a:lstStyle>
          <a:p>
            <a:pPr algn="l"/>
            <a:r>
              <a:rPr lang="zh-CN" altLang="en-US" sz="3600" spc="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rPr>
              <a:t>目录</a:t>
            </a:r>
            <a:endParaRPr lang="zh-CN" altLang="en-US" sz="3600" spc="0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90204" pitchFamily="34" charset="0"/>
              <a:ea typeface="汉仪旗黑-55简" panose="00020600040101010101" charset="-122"/>
              <a:cs typeface="+mn-ea"/>
              <a:sym typeface="+mn-lt"/>
            </a:endParaRPr>
          </a:p>
        </p:txBody>
      </p:sp>
      <p:sp>
        <p:nvSpPr>
          <p:cNvPr id="16" name="TextBox 15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/>
          <p:cNvSpPr txBox="1"/>
          <p:nvPr>
            <p:custDataLst>
              <p:tags r:id="rId2"/>
            </p:custDataLst>
          </p:nvPr>
        </p:nvSpPr>
        <p:spPr>
          <a:xfrm>
            <a:off x="554355" y="5493385"/>
            <a:ext cx="212725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6000">
                <a:ln w="38100">
                  <a:noFill/>
                </a:ln>
                <a:solidFill>
                  <a:schemeClr val="bg1"/>
                </a:solidFill>
                <a:latin typeface="Impact" panose="020B0806030902050204" pitchFamily="34" charset="0"/>
                <a:ea typeface="微软雅黑" panose="020B0502040204020203" pitchFamily="34" charset="-122"/>
              </a:defRPr>
            </a:lvl1pPr>
          </a:lstStyle>
          <a:p>
            <a:pPr algn="l"/>
            <a:r>
              <a:rPr lang="en-US" altLang="zh-CN" sz="16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rPr>
              <a:t>contents</a:t>
            </a:r>
            <a:endParaRPr lang="en-US" altLang="zh-CN" sz="1600" b="1" dirty="0">
              <a:solidFill>
                <a:schemeClr val="bg1"/>
              </a:solidFill>
              <a:latin typeface="Arial" panose="020B0604020202090204" pitchFamily="34" charset="0"/>
              <a:ea typeface="汉仪旗黑-55简" panose="00020600040101010101" charset="-122"/>
              <a:cs typeface="+mn-ea"/>
              <a:sym typeface="+mn-lt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6482715" y="939800"/>
            <a:ext cx="2477135" cy="840740"/>
            <a:chOff x="5522" y="1826"/>
            <a:chExt cx="3901" cy="1324"/>
          </a:xfrm>
        </p:grpSpPr>
        <p:pic>
          <p:nvPicPr>
            <p:cNvPr id="51" name="图片 5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" y="1826"/>
              <a:ext cx="1325" cy="1325"/>
            </a:xfrm>
            <a:prstGeom prst="rect">
              <a:avLst/>
            </a:prstGeom>
          </p:spPr>
        </p:pic>
        <p:grpSp>
          <p:nvGrpSpPr>
            <p:cNvPr id="23" name="组合 22"/>
            <p:cNvGrpSpPr/>
            <p:nvPr/>
          </p:nvGrpSpPr>
          <p:grpSpPr>
            <a:xfrm>
              <a:off x="5765" y="2069"/>
              <a:ext cx="3659" cy="838"/>
              <a:chOff x="6647" y="2245"/>
              <a:chExt cx="3659" cy="838"/>
            </a:xfrm>
          </p:grpSpPr>
          <p:sp>
            <p:nvSpPr>
              <p:cNvPr id="1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812" y="2374"/>
                <a:ext cx="2494" cy="5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zh-CN" altLang="es-ES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目录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1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6647" y="2245"/>
                <a:ext cx="839" cy="838"/>
                <a:chOff x="6708" y="3228"/>
                <a:chExt cx="839" cy="838"/>
              </a:xfrm>
            </p:grpSpPr>
            <p:sp>
              <p:nvSpPr>
                <p:cNvPr id="21" name="AutoShape 10"/>
                <p:cNvSpPr/>
                <p:nvPr>
                  <p:custDataLst>
                    <p:tags r:id="rId5"/>
                  </p:custDataLst>
                </p:nvPr>
              </p:nvSpPr>
              <p:spPr bwMode="auto">
                <a:xfrm>
                  <a:off x="6708" y="3228"/>
                  <a:ext cx="839" cy="839"/>
                </a:xfrm>
                <a:custGeom>
                  <a:avLst/>
                  <a:gdLst>
                    <a:gd name="T0" fmla="*/ 532579 w 19679"/>
                    <a:gd name="T1" fmla="*/ 584598 h 19679"/>
                    <a:gd name="T2" fmla="*/ 532579 w 19679"/>
                    <a:gd name="T3" fmla="*/ 584598 h 19679"/>
                    <a:gd name="T4" fmla="*/ 532579 w 19679"/>
                    <a:gd name="T5" fmla="*/ 584598 h 19679"/>
                    <a:gd name="T6" fmla="*/ 532579 w 19679"/>
                    <a:gd name="T7" fmla="*/ 584598 h 1967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solidFill>
                  <a:srgbClr val="EEF5FB"/>
                </a:solidFill>
                <a:ln w="25400" cap="flat" cmpd="sng">
                  <a:noFill/>
                  <a:prstDash val="solid"/>
                  <a:miter lim="0"/>
                </a:ln>
                <a:effectLst/>
              </p:spPr>
              <p:txBody>
                <a:bodyPr lIns="0" tIns="0" rIns="0" bIns="0" anchor="ctr"/>
                <a:p>
                  <a:endParaRPr lang="zh-CN" altLang="en-US" sz="200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  <p:cNvSpPr/>
                <p:nvPr>
                  <p:custDataLst>
                    <p:tags r:id="rId6"/>
                  </p:custDataLst>
                </p:nvPr>
              </p:nvSpPr>
              <p:spPr bwMode="auto">
                <a:xfrm>
                  <a:off x="6883" y="3357"/>
                  <a:ext cx="665" cy="58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p>
                  <a:pPr algn="l" defTabSz="323850">
                    <a:spcBef>
                      <a:spcPts val="850"/>
                    </a:spcBef>
                  </a:pPr>
                  <a:r>
                    <a:rPr lang="en-US" sz="2400" b="1" dirty="0">
                      <a:solidFill>
                        <a:srgbClr val="004B9F"/>
                      </a:solidFill>
                      <a:latin typeface="Arial" panose="020B0604020202090204" pitchFamily="34" charset="0"/>
                      <a:ea typeface="汉仪旗黑-55简" panose="00020600040101010101" charset="-122"/>
                      <a:cs typeface="+mn-ea"/>
                      <a:sym typeface="+mn-lt"/>
                    </a:rPr>
                    <a:t>01</a:t>
                  </a:r>
                  <a:endParaRPr lang="en-US" sz="2400" b="1" dirty="0">
                    <a:solidFill>
                      <a:srgbClr val="004B9F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54" name="组合 53"/>
          <p:cNvGrpSpPr/>
          <p:nvPr/>
        </p:nvGrpSpPr>
        <p:grpSpPr>
          <a:xfrm>
            <a:off x="6482715" y="1989455"/>
            <a:ext cx="2477770" cy="841375"/>
            <a:chOff x="5522" y="1826"/>
            <a:chExt cx="3902" cy="1325"/>
          </a:xfrm>
        </p:grpSpPr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" y="1826"/>
              <a:ext cx="1325" cy="1325"/>
            </a:xfrm>
            <a:prstGeom prst="rect">
              <a:avLst/>
            </a:prstGeom>
          </p:spPr>
        </p:pic>
        <p:grpSp>
          <p:nvGrpSpPr>
            <p:cNvPr id="56" name="组合 55"/>
            <p:cNvGrpSpPr/>
            <p:nvPr/>
          </p:nvGrpSpPr>
          <p:grpSpPr>
            <a:xfrm>
              <a:off x="5765" y="2069"/>
              <a:ext cx="3659" cy="839"/>
              <a:chOff x="6647" y="2245"/>
              <a:chExt cx="3659" cy="839"/>
            </a:xfrm>
          </p:grpSpPr>
          <p:sp>
            <p:nvSpPr>
              <p:cNvPr id="57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7812" y="2374"/>
                <a:ext cx="2494" cy="5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zh-CN" altLang="es-ES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目录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2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6647" y="2245"/>
                <a:ext cx="840" cy="839"/>
                <a:chOff x="6708" y="3228"/>
                <a:chExt cx="840" cy="839"/>
              </a:xfrm>
            </p:grpSpPr>
            <p:sp>
              <p:nvSpPr>
                <p:cNvPr id="59" name="AutoShape 10"/>
                <p:cNvSpPr/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6708" y="3228"/>
                  <a:ext cx="839" cy="839"/>
                </a:xfrm>
                <a:custGeom>
                  <a:avLst/>
                  <a:gdLst>
                    <a:gd name="T0" fmla="*/ 532579 w 19679"/>
                    <a:gd name="T1" fmla="*/ 584598 h 19679"/>
                    <a:gd name="T2" fmla="*/ 532579 w 19679"/>
                    <a:gd name="T3" fmla="*/ 584598 h 19679"/>
                    <a:gd name="T4" fmla="*/ 532579 w 19679"/>
                    <a:gd name="T5" fmla="*/ 584598 h 19679"/>
                    <a:gd name="T6" fmla="*/ 532579 w 19679"/>
                    <a:gd name="T7" fmla="*/ 584598 h 1967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solidFill>
                  <a:srgbClr val="EEF5FB"/>
                </a:solidFill>
                <a:ln w="25400" cap="flat" cmpd="sng">
                  <a:noFill/>
                  <a:prstDash val="solid"/>
                  <a:miter lim="0"/>
                </a:ln>
                <a:effectLst/>
              </p:spPr>
              <p:txBody>
                <a:bodyPr lIns="0" tIns="0" rIns="0" bIns="0" anchor="ctr"/>
                <a:p>
                  <a:endParaRPr lang="zh-CN" altLang="en-US" sz="200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  <p:cNvSpPr/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6883" y="3357"/>
                  <a:ext cx="665" cy="58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p>
                  <a:pPr algn="l" defTabSz="323850">
                    <a:spcBef>
                      <a:spcPts val="850"/>
                    </a:spcBef>
                  </a:pPr>
                  <a:r>
                    <a:rPr lang="en-US" sz="2400" b="1" dirty="0">
                      <a:solidFill>
                        <a:srgbClr val="004B9F"/>
                      </a:solidFill>
                      <a:latin typeface="Arial" panose="020B0604020202090204" pitchFamily="34" charset="0"/>
                      <a:ea typeface="汉仪旗黑-55简" panose="00020600040101010101" charset="-122"/>
                      <a:cs typeface="+mn-ea"/>
                      <a:sym typeface="+mn-lt"/>
                    </a:rPr>
                    <a:t>02</a:t>
                  </a:r>
                  <a:endParaRPr lang="en-US" sz="2400" b="1" dirty="0">
                    <a:solidFill>
                      <a:srgbClr val="004B9F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61" name="组合 60"/>
          <p:cNvGrpSpPr/>
          <p:nvPr/>
        </p:nvGrpSpPr>
        <p:grpSpPr>
          <a:xfrm>
            <a:off x="6482715" y="3011805"/>
            <a:ext cx="2477770" cy="841375"/>
            <a:chOff x="5522" y="1826"/>
            <a:chExt cx="3902" cy="1325"/>
          </a:xfrm>
        </p:grpSpPr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" y="1826"/>
              <a:ext cx="1325" cy="1325"/>
            </a:xfrm>
            <a:prstGeom prst="rect">
              <a:avLst/>
            </a:prstGeom>
          </p:spPr>
        </p:pic>
        <p:grpSp>
          <p:nvGrpSpPr>
            <p:cNvPr id="63" name="组合 62"/>
            <p:cNvGrpSpPr/>
            <p:nvPr/>
          </p:nvGrpSpPr>
          <p:grpSpPr>
            <a:xfrm>
              <a:off x="5765" y="2069"/>
              <a:ext cx="3659" cy="839"/>
              <a:chOff x="6647" y="2245"/>
              <a:chExt cx="3659" cy="839"/>
            </a:xfrm>
          </p:grpSpPr>
          <p:sp>
            <p:nvSpPr>
              <p:cNvPr id="6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7812" y="2374"/>
                <a:ext cx="2494" cy="5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zh-CN" altLang="es-ES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目录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3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  <p:grpSp>
            <p:nvGrpSpPr>
              <p:cNvPr id="65" name="组合 64"/>
              <p:cNvGrpSpPr/>
              <p:nvPr/>
            </p:nvGrpSpPr>
            <p:grpSpPr>
              <a:xfrm>
                <a:off x="6647" y="2245"/>
                <a:ext cx="840" cy="839"/>
                <a:chOff x="6708" y="3228"/>
                <a:chExt cx="840" cy="839"/>
              </a:xfrm>
            </p:grpSpPr>
            <p:sp>
              <p:nvSpPr>
                <p:cNvPr id="66" name="AutoShape 10"/>
                <p:cNvSpPr/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6708" y="3228"/>
                  <a:ext cx="839" cy="839"/>
                </a:xfrm>
                <a:custGeom>
                  <a:avLst/>
                  <a:gdLst>
                    <a:gd name="T0" fmla="*/ 532579 w 19679"/>
                    <a:gd name="T1" fmla="*/ 584598 h 19679"/>
                    <a:gd name="T2" fmla="*/ 532579 w 19679"/>
                    <a:gd name="T3" fmla="*/ 584598 h 19679"/>
                    <a:gd name="T4" fmla="*/ 532579 w 19679"/>
                    <a:gd name="T5" fmla="*/ 584598 h 19679"/>
                    <a:gd name="T6" fmla="*/ 532579 w 19679"/>
                    <a:gd name="T7" fmla="*/ 584598 h 1967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solidFill>
                  <a:srgbClr val="EEF5FB"/>
                </a:solidFill>
                <a:ln w="25400" cap="flat" cmpd="sng">
                  <a:noFill/>
                  <a:prstDash val="solid"/>
                  <a:miter lim="0"/>
                </a:ln>
                <a:effectLst/>
              </p:spPr>
              <p:txBody>
                <a:bodyPr lIns="0" tIns="0" rIns="0" bIns="0" anchor="ctr"/>
                <a:p>
                  <a:endParaRPr lang="zh-CN" altLang="en-US" sz="200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  <p:cNvSpPr/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6883" y="3357"/>
                  <a:ext cx="665" cy="58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p>
                  <a:pPr algn="l" defTabSz="323850">
                    <a:spcBef>
                      <a:spcPts val="850"/>
                    </a:spcBef>
                  </a:pPr>
                  <a:r>
                    <a:rPr lang="en-US" sz="2400" b="1" dirty="0">
                      <a:solidFill>
                        <a:srgbClr val="004B9F"/>
                      </a:solidFill>
                      <a:latin typeface="Arial" panose="020B0604020202090204" pitchFamily="34" charset="0"/>
                      <a:ea typeface="汉仪旗黑-55简" panose="00020600040101010101" charset="-122"/>
                      <a:cs typeface="+mn-ea"/>
                      <a:sym typeface="+mn-lt"/>
                    </a:rPr>
                    <a:t>03</a:t>
                  </a:r>
                  <a:endParaRPr lang="en-US" sz="2400" b="1" dirty="0">
                    <a:solidFill>
                      <a:srgbClr val="004B9F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cxnSp>
        <p:nvCxnSpPr>
          <p:cNvPr id="68" name="直接连接符 67"/>
          <p:cNvCxnSpPr/>
          <p:nvPr/>
        </p:nvCxnSpPr>
        <p:spPr>
          <a:xfrm>
            <a:off x="637540" y="5948045"/>
            <a:ext cx="121983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3655060" y="939800"/>
            <a:ext cx="2827655" cy="1014730"/>
            <a:chOff x="10319" y="1402"/>
            <a:chExt cx="4453" cy="1598"/>
          </a:xfrm>
        </p:grpSpPr>
        <p:grpSp>
          <p:nvGrpSpPr>
            <p:cNvPr id="76" name="组合 75"/>
            <p:cNvGrpSpPr/>
            <p:nvPr/>
          </p:nvGrpSpPr>
          <p:grpSpPr>
            <a:xfrm>
              <a:off x="10319" y="1402"/>
              <a:ext cx="1811" cy="1598"/>
              <a:chOff x="10234" y="5569"/>
              <a:chExt cx="1811" cy="1598"/>
            </a:xfrm>
          </p:grpSpPr>
          <p:grpSp>
            <p:nvGrpSpPr>
              <p:cNvPr id="72" name="组合 39"/>
              <p:cNvGrpSpPr/>
              <p:nvPr/>
            </p:nvGrpSpPr>
            <p:grpSpPr>
              <a:xfrm>
                <a:off x="10234" y="5569"/>
                <a:ext cx="1699" cy="1598"/>
                <a:chOff x="5117306" y="2065735"/>
                <a:chExt cx="1453754" cy="1431131"/>
              </a:xfrm>
              <a:solidFill>
                <a:srgbClr val="0053B5"/>
              </a:solidFill>
            </p:grpSpPr>
            <p:sp>
              <p:nvSpPr>
                <p:cNvPr id="73" name="Freeform 17"/>
                <p:cNvSpPr>
                  <a:spLocks noChangeAspect="1"/>
                </p:cNvSpPr>
                <p:nvPr>
                  <p:custDataLst>
                    <p:tags r:id="rId13"/>
                  </p:custDataLst>
                </p:nvPr>
              </p:nvSpPr>
              <p:spPr bwMode="auto">
                <a:xfrm>
                  <a:off x="5117306" y="2065735"/>
                  <a:ext cx="1453754" cy="1431131"/>
                </a:xfrm>
                <a:custGeom>
                  <a:avLst/>
                  <a:gdLst>
                    <a:gd name="T0" fmla="*/ 145 w 145"/>
                    <a:gd name="T1" fmla="*/ 74 h 143"/>
                    <a:gd name="T2" fmla="*/ 133 w 145"/>
                    <a:gd name="T3" fmla="*/ 88 h 143"/>
                    <a:gd name="T4" fmla="*/ 8 w 145"/>
                    <a:gd name="T5" fmla="*/ 143 h 143"/>
                    <a:gd name="T6" fmla="*/ 2 w 145"/>
                    <a:gd name="T7" fmla="*/ 141 h 143"/>
                    <a:gd name="T8" fmla="*/ 0 w 145"/>
                    <a:gd name="T9" fmla="*/ 135 h 143"/>
                    <a:gd name="T10" fmla="*/ 6 w 145"/>
                    <a:gd name="T11" fmla="*/ 108 h 143"/>
                    <a:gd name="T12" fmla="*/ 50 w 145"/>
                    <a:gd name="T13" fmla="*/ 73 h 143"/>
                    <a:gd name="T14" fmla="*/ 21 w 145"/>
                    <a:gd name="T15" fmla="*/ 44 h 143"/>
                    <a:gd name="T16" fmla="*/ 29 w 145"/>
                    <a:gd name="T17" fmla="*/ 8 h 143"/>
                    <a:gd name="T18" fmla="*/ 36 w 145"/>
                    <a:gd name="T19" fmla="*/ 1 h 143"/>
                    <a:gd name="T20" fmla="*/ 44 w 145"/>
                    <a:gd name="T21" fmla="*/ 3 h 143"/>
                    <a:gd name="T22" fmla="*/ 138 w 145"/>
                    <a:gd name="T23" fmla="*/ 61 h 143"/>
                    <a:gd name="T24" fmla="*/ 145 w 145"/>
                    <a:gd name="T25" fmla="*/ 7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5" h="143">
                      <a:moveTo>
                        <a:pt x="145" y="74"/>
                      </a:moveTo>
                      <a:cubicBezTo>
                        <a:pt x="145" y="82"/>
                        <a:pt x="133" y="88"/>
                        <a:pt x="133" y="88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143"/>
                        <a:pt x="4" y="143"/>
                        <a:pt x="2" y="141"/>
                      </a:cubicBezTo>
                      <a:cubicBezTo>
                        <a:pt x="0" y="139"/>
                        <a:pt x="0" y="135"/>
                        <a:pt x="0" y="135"/>
                      </a:cubicBezTo>
                      <a:cubicBezTo>
                        <a:pt x="6" y="108"/>
                        <a:pt x="6" y="108"/>
                        <a:pt x="6" y="108"/>
                      </a:cubicBezTo>
                      <a:cubicBezTo>
                        <a:pt x="6" y="108"/>
                        <a:pt x="50" y="92"/>
                        <a:pt x="50" y="73"/>
                      </a:cubicBezTo>
                      <a:cubicBezTo>
                        <a:pt x="49" y="57"/>
                        <a:pt x="21" y="44"/>
                        <a:pt x="21" y="44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31" y="3"/>
                        <a:pt x="36" y="1"/>
                      </a:cubicBezTo>
                      <a:cubicBezTo>
                        <a:pt x="40" y="0"/>
                        <a:pt x="44" y="3"/>
                        <a:pt x="44" y="3"/>
                      </a:cubicBezTo>
                      <a:cubicBezTo>
                        <a:pt x="138" y="61"/>
                        <a:pt x="138" y="61"/>
                        <a:pt x="138" y="61"/>
                      </a:cubicBezTo>
                      <a:cubicBezTo>
                        <a:pt x="138" y="61"/>
                        <a:pt x="145" y="65"/>
                        <a:pt x="145" y="74"/>
                      </a:cubicBezTo>
                      <a:close/>
                    </a:path>
                  </a:pathLst>
                </a:custGeom>
                <a:grpFill/>
                <a:ln w="3175" cap="flat" cmpd="sng" algn="ctr">
                  <a:noFill/>
                  <a:prstDash val="solid"/>
                </a:ln>
                <a:effectLst/>
              </p:spPr>
              <p:txBody>
                <a:bodyPr lIns="91417" tIns="45708" rIns="91417" bIns="45708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 sz="1065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Freeform 26"/>
                <p:cNvSpPr>
                  <a:spLocks noChangeAspect="1"/>
                </p:cNvSpPr>
                <p:nvPr>
                  <p:custDataLst>
                    <p:tags r:id="rId14"/>
                  </p:custDataLst>
                </p:nvPr>
              </p:nvSpPr>
              <p:spPr bwMode="auto">
                <a:xfrm>
                  <a:off x="5865019" y="2717007"/>
                  <a:ext cx="182166" cy="189310"/>
                </a:xfrm>
                <a:custGeom>
                  <a:avLst/>
                  <a:gdLst>
                    <a:gd name="T0" fmla="*/ 103 w 274"/>
                    <a:gd name="T1" fmla="*/ 284 h 284"/>
                    <a:gd name="T2" fmla="*/ 80 w 274"/>
                    <a:gd name="T3" fmla="*/ 273 h 284"/>
                    <a:gd name="T4" fmla="*/ 9 w 274"/>
                    <a:gd name="T5" fmla="*/ 178 h 284"/>
                    <a:gd name="T6" fmla="*/ 14 w 274"/>
                    <a:gd name="T7" fmla="*/ 139 h 284"/>
                    <a:gd name="T8" fmla="*/ 53 w 274"/>
                    <a:gd name="T9" fmla="*/ 145 h 284"/>
                    <a:gd name="T10" fmla="*/ 100 w 274"/>
                    <a:gd name="T11" fmla="*/ 207 h 284"/>
                    <a:gd name="T12" fmla="*/ 219 w 274"/>
                    <a:gd name="T13" fmla="*/ 17 h 284"/>
                    <a:gd name="T14" fmla="*/ 257 w 274"/>
                    <a:gd name="T15" fmla="*/ 8 h 284"/>
                    <a:gd name="T16" fmla="*/ 266 w 274"/>
                    <a:gd name="T17" fmla="*/ 47 h 284"/>
                    <a:gd name="T18" fmla="*/ 126 w 274"/>
                    <a:gd name="T19" fmla="*/ 271 h 284"/>
                    <a:gd name="T20" fmla="*/ 104 w 274"/>
                    <a:gd name="T21" fmla="*/ 284 h 284"/>
                    <a:gd name="T22" fmla="*/ 103 w 274"/>
                    <a:gd name="T23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74" h="284">
                      <a:moveTo>
                        <a:pt x="103" y="284"/>
                      </a:moveTo>
                      <a:cubicBezTo>
                        <a:pt x="94" y="284"/>
                        <a:pt x="86" y="280"/>
                        <a:pt x="80" y="273"/>
                      </a:cubicBezTo>
                      <a:cubicBezTo>
                        <a:pt x="9" y="178"/>
                        <a:pt x="9" y="178"/>
                        <a:pt x="9" y="178"/>
                      </a:cubicBezTo>
                      <a:cubicBezTo>
                        <a:pt x="0" y="166"/>
                        <a:pt x="2" y="149"/>
                        <a:pt x="14" y="139"/>
                      </a:cubicBezTo>
                      <a:cubicBezTo>
                        <a:pt x="27" y="130"/>
                        <a:pt x="44" y="133"/>
                        <a:pt x="53" y="145"/>
                      </a:cubicBezTo>
                      <a:cubicBezTo>
                        <a:pt x="100" y="207"/>
                        <a:pt x="100" y="207"/>
                        <a:pt x="100" y="207"/>
                      </a:cubicBezTo>
                      <a:cubicBezTo>
                        <a:pt x="219" y="17"/>
                        <a:pt x="219" y="17"/>
                        <a:pt x="219" y="17"/>
                      </a:cubicBezTo>
                      <a:cubicBezTo>
                        <a:pt x="227" y="4"/>
                        <a:pt x="244" y="0"/>
                        <a:pt x="257" y="8"/>
                      </a:cubicBezTo>
                      <a:cubicBezTo>
                        <a:pt x="270" y="16"/>
                        <a:pt x="274" y="33"/>
                        <a:pt x="266" y="47"/>
                      </a:cubicBezTo>
                      <a:cubicBezTo>
                        <a:pt x="126" y="271"/>
                        <a:pt x="126" y="271"/>
                        <a:pt x="126" y="271"/>
                      </a:cubicBezTo>
                      <a:cubicBezTo>
                        <a:pt x="121" y="279"/>
                        <a:pt x="113" y="283"/>
                        <a:pt x="104" y="284"/>
                      </a:cubicBezTo>
                      <a:cubicBezTo>
                        <a:pt x="104" y="284"/>
                        <a:pt x="103" y="284"/>
                        <a:pt x="103" y="2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91417" tIns="45708" rIns="91417" bIns="45708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en-US" sz="2000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7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10913" y="5976"/>
                <a:ext cx="1133" cy="67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en-US" sz="28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01</a:t>
                </a:r>
                <a:endParaRPr lang="en-US" sz="28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77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>
              <p:custDataLst>
                <p:tags r:id="rId16"/>
              </p:custDataLst>
            </p:nvPr>
          </p:nvSpPr>
          <p:spPr bwMode="auto">
            <a:xfrm>
              <a:off x="12278" y="1857"/>
              <a:ext cx="2494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目录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1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3655060" y="2226945"/>
            <a:ext cx="2827655" cy="1014730"/>
            <a:chOff x="10319" y="1402"/>
            <a:chExt cx="4453" cy="1598"/>
          </a:xfrm>
        </p:grpSpPr>
        <p:grpSp>
          <p:nvGrpSpPr>
            <p:cNvPr id="80" name="组合 79"/>
            <p:cNvGrpSpPr/>
            <p:nvPr/>
          </p:nvGrpSpPr>
          <p:grpSpPr>
            <a:xfrm>
              <a:off x="10319" y="1402"/>
              <a:ext cx="1812" cy="1598"/>
              <a:chOff x="10234" y="5569"/>
              <a:chExt cx="1812" cy="1598"/>
            </a:xfrm>
          </p:grpSpPr>
          <p:grpSp>
            <p:nvGrpSpPr>
              <p:cNvPr id="81" name="组合 39"/>
              <p:cNvGrpSpPr/>
              <p:nvPr/>
            </p:nvGrpSpPr>
            <p:grpSpPr>
              <a:xfrm>
                <a:off x="10234" y="5569"/>
                <a:ext cx="1699" cy="1598"/>
                <a:chOff x="5117306" y="2065735"/>
                <a:chExt cx="1453754" cy="1431131"/>
              </a:xfrm>
              <a:solidFill>
                <a:srgbClr val="0053B5"/>
              </a:solidFill>
            </p:grpSpPr>
            <p:sp>
              <p:nvSpPr>
                <p:cNvPr id="82" name="Freeform 17"/>
                <p:cNvSpPr>
                  <a:spLocks noChangeAspect="1"/>
                </p:cNvSpPr>
                <p:nvPr>
                  <p:custDataLst>
                    <p:tags r:id="rId17"/>
                  </p:custDataLst>
                </p:nvPr>
              </p:nvSpPr>
              <p:spPr bwMode="auto">
                <a:xfrm>
                  <a:off x="5117306" y="2065735"/>
                  <a:ext cx="1453754" cy="1431131"/>
                </a:xfrm>
                <a:custGeom>
                  <a:avLst/>
                  <a:gdLst>
                    <a:gd name="T0" fmla="*/ 145 w 145"/>
                    <a:gd name="T1" fmla="*/ 74 h 143"/>
                    <a:gd name="T2" fmla="*/ 133 w 145"/>
                    <a:gd name="T3" fmla="*/ 88 h 143"/>
                    <a:gd name="T4" fmla="*/ 8 w 145"/>
                    <a:gd name="T5" fmla="*/ 143 h 143"/>
                    <a:gd name="T6" fmla="*/ 2 w 145"/>
                    <a:gd name="T7" fmla="*/ 141 h 143"/>
                    <a:gd name="T8" fmla="*/ 0 w 145"/>
                    <a:gd name="T9" fmla="*/ 135 h 143"/>
                    <a:gd name="T10" fmla="*/ 6 w 145"/>
                    <a:gd name="T11" fmla="*/ 108 h 143"/>
                    <a:gd name="T12" fmla="*/ 50 w 145"/>
                    <a:gd name="T13" fmla="*/ 73 h 143"/>
                    <a:gd name="T14" fmla="*/ 21 w 145"/>
                    <a:gd name="T15" fmla="*/ 44 h 143"/>
                    <a:gd name="T16" fmla="*/ 29 w 145"/>
                    <a:gd name="T17" fmla="*/ 8 h 143"/>
                    <a:gd name="T18" fmla="*/ 36 w 145"/>
                    <a:gd name="T19" fmla="*/ 1 h 143"/>
                    <a:gd name="T20" fmla="*/ 44 w 145"/>
                    <a:gd name="T21" fmla="*/ 3 h 143"/>
                    <a:gd name="T22" fmla="*/ 138 w 145"/>
                    <a:gd name="T23" fmla="*/ 61 h 143"/>
                    <a:gd name="T24" fmla="*/ 145 w 145"/>
                    <a:gd name="T25" fmla="*/ 7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5" h="143">
                      <a:moveTo>
                        <a:pt x="145" y="74"/>
                      </a:moveTo>
                      <a:cubicBezTo>
                        <a:pt x="145" y="82"/>
                        <a:pt x="133" y="88"/>
                        <a:pt x="133" y="88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143"/>
                        <a:pt x="4" y="143"/>
                        <a:pt x="2" y="141"/>
                      </a:cubicBezTo>
                      <a:cubicBezTo>
                        <a:pt x="0" y="139"/>
                        <a:pt x="0" y="135"/>
                        <a:pt x="0" y="135"/>
                      </a:cubicBezTo>
                      <a:cubicBezTo>
                        <a:pt x="6" y="108"/>
                        <a:pt x="6" y="108"/>
                        <a:pt x="6" y="108"/>
                      </a:cubicBezTo>
                      <a:cubicBezTo>
                        <a:pt x="6" y="108"/>
                        <a:pt x="50" y="92"/>
                        <a:pt x="50" y="73"/>
                      </a:cubicBezTo>
                      <a:cubicBezTo>
                        <a:pt x="49" y="57"/>
                        <a:pt x="21" y="44"/>
                        <a:pt x="21" y="44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31" y="3"/>
                        <a:pt x="36" y="1"/>
                      </a:cubicBezTo>
                      <a:cubicBezTo>
                        <a:pt x="40" y="0"/>
                        <a:pt x="44" y="3"/>
                        <a:pt x="44" y="3"/>
                      </a:cubicBezTo>
                      <a:cubicBezTo>
                        <a:pt x="138" y="61"/>
                        <a:pt x="138" y="61"/>
                        <a:pt x="138" y="61"/>
                      </a:cubicBezTo>
                      <a:cubicBezTo>
                        <a:pt x="138" y="61"/>
                        <a:pt x="145" y="65"/>
                        <a:pt x="145" y="74"/>
                      </a:cubicBezTo>
                      <a:close/>
                    </a:path>
                  </a:pathLst>
                </a:custGeom>
                <a:grpFill/>
                <a:ln w="3175" cap="flat" cmpd="sng" algn="ctr">
                  <a:noFill/>
                  <a:prstDash val="solid"/>
                </a:ln>
                <a:effectLst/>
              </p:spPr>
              <p:txBody>
                <a:bodyPr lIns="91417" tIns="45708" rIns="91417" bIns="45708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 sz="1065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3" name="Freeform 26"/>
                <p:cNvSpPr>
                  <a:spLocks noChangeAspect="1"/>
                </p:cNvSpPr>
                <p:nvPr>
                  <p:custDataLst>
                    <p:tags r:id="rId18"/>
                  </p:custDataLst>
                </p:nvPr>
              </p:nvSpPr>
              <p:spPr bwMode="auto">
                <a:xfrm>
                  <a:off x="5865019" y="2717007"/>
                  <a:ext cx="182166" cy="189310"/>
                </a:xfrm>
                <a:custGeom>
                  <a:avLst/>
                  <a:gdLst>
                    <a:gd name="T0" fmla="*/ 103 w 274"/>
                    <a:gd name="T1" fmla="*/ 284 h 284"/>
                    <a:gd name="T2" fmla="*/ 80 w 274"/>
                    <a:gd name="T3" fmla="*/ 273 h 284"/>
                    <a:gd name="T4" fmla="*/ 9 w 274"/>
                    <a:gd name="T5" fmla="*/ 178 h 284"/>
                    <a:gd name="T6" fmla="*/ 14 w 274"/>
                    <a:gd name="T7" fmla="*/ 139 h 284"/>
                    <a:gd name="T8" fmla="*/ 53 w 274"/>
                    <a:gd name="T9" fmla="*/ 145 h 284"/>
                    <a:gd name="T10" fmla="*/ 100 w 274"/>
                    <a:gd name="T11" fmla="*/ 207 h 284"/>
                    <a:gd name="T12" fmla="*/ 219 w 274"/>
                    <a:gd name="T13" fmla="*/ 17 h 284"/>
                    <a:gd name="T14" fmla="*/ 257 w 274"/>
                    <a:gd name="T15" fmla="*/ 8 h 284"/>
                    <a:gd name="T16" fmla="*/ 266 w 274"/>
                    <a:gd name="T17" fmla="*/ 47 h 284"/>
                    <a:gd name="T18" fmla="*/ 126 w 274"/>
                    <a:gd name="T19" fmla="*/ 271 h 284"/>
                    <a:gd name="T20" fmla="*/ 104 w 274"/>
                    <a:gd name="T21" fmla="*/ 284 h 284"/>
                    <a:gd name="T22" fmla="*/ 103 w 274"/>
                    <a:gd name="T23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74" h="284">
                      <a:moveTo>
                        <a:pt x="103" y="284"/>
                      </a:moveTo>
                      <a:cubicBezTo>
                        <a:pt x="94" y="284"/>
                        <a:pt x="86" y="280"/>
                        <a:pt x="80" y="273"/>
                      </a:cubicBezTo>
                      <a:cubicBezTo>
                        <a:pt x="9" y="178"/>
                        <a:pt x="9" y="178"/>
                        <a:pt x="9" y="178"/>
                      </a:cubicBezTo>
                      <a:cubicBezTo>
                        <a:pt x="0" y="166"/>
                        <a:pt x="2" y="149"/>
                        <a:pt x="14" y="139"/>
                      </a:cubicBezTo>
                      <a:cubicBezTo>
                        <a:pt x="27" y="130"/>
                        <a:pt x="44" y="133"/>
                        <a:pt x="53" y="145"/>
                      </a:cubicBezTo>
                      <a:cubicBezTo>
                        <a:pt x="100" y="207"/>
                        <a:pt x="100" y="207"/>
                        <a:pt x="100" y="207"/>
                      </a:cubicBezTo>
                      <a:cubicBezTo>
                        <a:pt x="219" y="17"/>
                        <a:pt x="219" y="17"/>
                        <a:pt x="219" y="17"/>
                      </a:cubicBezTo>
                      <a:cubicBezTo>
                        <a:pt x="227" y="4"/>
                        <a:pt x="244" y="0"/>
                        <a:pt x="257" y="8"/>
                      </a:cubicBezTo>
                      <a:cubicBezTo>
                        <a:pt x="270" y="16"/>
                        <a:pt x="274" y="33"/>
                        <a:pt x="266" y="47"/>
                      </a:cubicBezTo>
                      <a:cubicBezTo>
                        <a:pt x="126" y="271"/>
                        <a:pt x="126" y="271"/>
                        <a:pt x="126" y="271"/>
                      </a:cubicBezTo>
                      <a:cubicBezTo>
                        <a:pt x="121" y="279"/>
                        <a:pt x="113" y="283"/>
                        <a:pt x="104" y="284"/>
                      </a:cubicBezTo>
                      <a:cubicBezTo>
                        <a:pt x="104" y="284"/>
                        <a:pt x="103" y="284"/>
                        <a:pt x="103" y="2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91417" tIns="45708" rIns="91417" bIns="45708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en-US" sz="2000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8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10913" y="5976"/>
                <a:ext cx="1133" cy="67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en-US" sz="28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02</a:t>
                </a:r>
                <a:endParaRPr lang="en-US" sz="28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8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>
              <p:custDataLst>
                <p:tags r:id="rId20"/>
              </p:custDataLst>
            </p:nvPr>
          </p:nvSpPr>
          <p:spPr bwMode="auto">
            <a:xfrm>
              <a:off x="12278" y="1857"/>
              <a:ext cx="2494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目录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2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3655060" y="3514090"/>
            <a:ext cx="2827655" cy="1014730"/>
            <a:chOff x="10319" y="1402"/>
            <a:chExt cx="4453" cy="1598"/>
          </a:xfrm>
        </p:grpSpPr>
        <p:grpSp>
          <p:nvGrpSpPr>
            <p:cNvPr id="87" name="组合 86"/>
            <p:cNvGrpSpPr/>
            <p:nvPr/>
          </p:nvGrpSpPr>
          <p:grpSpPr>
            <a:xfrm>
              <a:off x="10319" y="1402"/>
              <a:ext cx="1812" cy="1598"/>
              <a:chOff x="10234" y="5569"/>
              <a:chExt cx="1812" cy="1598"/>
            </a:xfrm>
          </p:grpSpPr>
          <p:grpSp>
            <p:nvGrpSpPr>
              <p:cNvPr id="88" name="组合 39"/>
              <p:cNvGrpSpPr/>
              <p:nvPr/>
            </p:nvGrpSpPr>
            <p:grpSpPr>
              <a:xfrm>
                <a:off x="10234" y="5569"/>
                <a:ext cx="1699" cy="1598"/>
                <a:chOff x="5117306" y="2065735"/>
                <a:chExt cx="1453754" cy="1431131"/>
              </a:xfrm>
              <a:solidFill>
                <a:srgbClr val="0053B5"/>
              </a:solidFill>
            </p:grpSpPr>
            <p:sp>
              <p:nvSpPr>
                <p:cNvPr id="89" name="Freeform 17"/>
                <p:cNvSpPr>
                  <a:spLocks noChangeAspect="1"/>
                </p:cNvSpPr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5117306" y="2065735"/>
                  <a:ext cx="1453754" cy="1431131"/>
                </a:xfrm>
                <a:custGeom>
                  <a:avLst/>
                  <a:gdLst>
                    <a:gd name="T0" fmla="*/ 145 w 145"/>
                    <a:gd name="T1" fmla="*/ 74 h 143"/>
                    <a:gd name="T2" fmla="*/ 133 w 145"/>
                    <a:gd name="T3" fmla="*/ 88 h 143"/>
                    <a:gd name="T4" fmla="*/ 8 w 145"/>
                    <a:gd name="T5" fmla="*/ 143 h 143"/>
                    <a:gd name="T6" fmla="*/ 2 w 145"/>
                    <a:gd name="T7" fmla="*/ 141 h 143"/>
                    <a:gd name="T8" fmla="*/ 0 w 145"/>
                    <a:gd name="T9" fmla="*/ 135 h 143"/>
                    <a:gd name="T10" fmla="*/ 6 w 145"/>
                    <a:gd name="T11" fmla="*/ 108 h 143"/>
                    <a:gd name="T12" fmla="*/ 50 w 145"/>
                    <a:gd name="T13" fmla="*/ 73 h 143"/>
                    <a:gd name="T14" fmla="*/ 21 w 145"/>
                    <a:gd name="T15" fmla="*/ 44 h 143"/>
                    <a:gd name="T16" fmla="*/ 29 w 145"/>
                    <a:gd name="T17" fmla="*/ 8 h 143"/>
                    <a:gd name="T18" fmla="*/ 36 w 145"/>
                    <a:gd name="T19" fmla="*/ 1 h 143"/>
                    <a:gd name="T20" fmla="*/ 44 w 145"/>
                    <a:gd name="T21" fmla="*/ 3 h 143"/>
                    <a:gd name="T22" fmla="*/ 138 w 145"/>
                    <a:gd name="T23" fmla="*/ 61 h 143"/>
                    <a:gd name="T24" fmla="*/ 145 w 145"/>
                    <a:gd name="T25" fmla="*/ 7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5" h="143">
                      <a:moveTo>
                        <a:pt x="145" y="74"/>
                      </a:moveTo>
                      <a:cubicBezTo>
                        <a:pt x="145" y="82"/>
                        <a:pt x="133" y="88"/>
                        <a:pt x="133" y="88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143"/>
                        <a:pt x="4" y="143"/>
                        <a:pt x="2" y="141"/>
                      </a:cubicBezTo>
                      <a:cubicBezTo>
                        <a:pt x="0" y="139"/>
                        <a:pt x="0" y="135"/>
                        <a:pt x="0" y="135"/>
                      </a:cubicBezTo>
                      <a:cubicBezTo>
                        <a:pt x="6" y="108"/>
                        <a:pt x="6" y="108"/>
                        <a:pt x="6" y="108"/>
                      </a:cubicBezTo>
                      <a:cubicBezTo>
                        <a:pt x="6" y="108"/>
                        <a:pt x="50" y="92"/>
                        <a:pt x="50" y="73"/>
                      </a:cubicBezTo>
                      <a:cubicBezTo>
                        <a:pt x="49" y="57"/>
                        <a:pt x="21" y="44"/>
                        <a:pt x="21" y="44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31" y="3"/>
                        <a:pt x="36" y="1"/>
                      </a:cubicBezTo>
                      <a:cubicBezTo>
                        <a:pt x="40" y="0"/>
                        <a:pt x="44" y="3"/>
                        <a:pt x="44" y="3"/>
                      </a:cubicBezTo>
                      <a:cubicBezTo>
                        <a:pt x="138" y="61"/>
                        <a:pt x="138" y="61"/>
                        <a:pt x="138" y="61"/>
                      </a:cubicBezTo>
                      <a:cubicBezTo>
                        <a:pt x="138" y="61"/>
                        <a:pt x="145" y="65"/>
                        <a:pt x="145" y="74"/>
                      </a:cubicBezTo>
                      <a:close/>
                    </a:path>
                  </a:pathLst>
                </a:custGeom>
                <a:grpFill/>
                <a:ln w="3175" cap="flat" cmpd="sng" algn="ctr">
                  <a:noFill/>
                  <a:prstDash val="solid"/>
                </a:ln>
                <a:effectLst/>
              </p:spPr>
              <p:txBody>
                <a:bodyPr lIns="91417" tIns="45708" rIns="91417" bIns="45708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 sz="1065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0" name="Freeform 26"/>
                <p:cNvSpPr>
                  <a:spLocks noChangeAspect="1"/>
                </p:cNvSpPr>
                <p:nvPr>
                  <p:custDataLst>
                    <p:tags r:id="rId22"/>
                  </p:custDataLst>
                </p:nvPr>
              </p:nvSpPr>
              <p:spPr bwMode="auto">
                <a:xfrm>
                  <a:off x="5865019" y="2717007"/>
                  <a:ext cx="182166" cy="189310"/>
                </a:xfrm>
                <a:custGeom>
                  <a:avLst/>
                  <a:gdLst>
                    <a:gd name="T0" fmla="*/ 103 w 274"/>
                    <a:gd name="T1" fmla="*/ 284 h 284"/>
                    <a:gd name="T2" fmla="*/ 80 w 274"/>
                    <a:gd name="T3" fmla="*/ 273 h 284"/>
                    <a:gd name="T4" fmla="*/ 9 w 274"/>
                    <a:gd name="T5" fmla="*/ 178 h 284"/>
                    <a:gd name="T6" fmla="*/ 14 w 274"/>
                    <a:gd name="T7" fmla="*/ 139 h 284"/>
                    <a:gd name="T8" fmla="*/ 53 w 274"/>
                    <a:gd name="T9" fmla="*/ 145 h 284"/>
                    <a:gd name="T10" fmla="*/ 100 w 274"/>
                    <a:gd name="T11" fmla="*/ 207 h 284"/>
                    <a:gd name="T12" fmla="*/ 219 w 274"/>
                    <a:gd name="T13" fmla="*/ 17 h 284"/>
                    <a:gd name="T14" fmla="*/ 257 w 274"/>
                    <a:gd name="T15" fmla="*/ 8 h 284"/>
                    <a:gd name="T16" fmla="*/ 266 w 274"/>
                    <a:gd name="T17" fmla="*/ 47 h 284"/>
                    <a:gd name="T18" fmla="*/ 126 w 274"/>
                    <a:gd name="T19" fmla="*/ 271 h 284"/>
                    <a:gd name="T20" fmla="*/ 104 w 274"/>
                    <a:gd name="T21" fmla="*/ 284 h 284"/>
                    <a:gd name="T22" fmla="*/ 103 w 274"/>
                    <a:gd name="T23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74" h="284">
                      <a:moveTo>
                        <a:pt x="103" y="284"/>
                      </a:moveTo>
                      <a:cubicBezTo>
                        <a:pt x="94" y="284"/>
                        <a:pt x="86" y="280"/>
                        <a:pt x="80" y="273"/>
                      </a:cubicBezTo>
                      <a:cubicBezTo>
                        <a:pt x="9" y="178"/>
                        <a:pt x="9" y="178"/>
                        <a:pt x="9" y="178"/>
                      </a:cubicBezTo>
                      <a:cubicBezTo>
                        <a:pt x="0" y="166"/>
                        <a:pt x="2" y="149"/>
                        <a:pt x="14" y="139"/>
                      </a:cubicBezTo>
                      <a:cubicBezTo>
                        <a:pt x="27" y="130"/>
                        <a:pt x="44" y="133"/>
                        <a:pt x="53" y="145"/>
                      </a:cubicBezTo>
                      <a:cubicBezTo>
                        <a:pt x="100" y="207"/>
                        <a:pt x="100" y="207"/>
                        <a:pt x="100" y="207"/>
                      </a:cubicBezTo>
                      <a:cubicBezTo>
                        <a:pt x="219" y="17"/>
                        <a:pt x="219" y="17"/>
                        <a:pt x="219" y="17"/>
                      </a:cubicBezTo>
                      <a:cubicBezTo>
                        <a:pt x="227" y="4"/>
                        <a:pt x="244" y="0"/>
                        <a:pt x="257" y="8"/>
                      </a:cubicBezTo>
                      <a:cubicBezTo>
                        <a:pt x="270" y="16"/>
                        <a:pt x="274" y="33"/>
                        <a:pt x="266" y="47"/>
                      </a:cubicBezTo>
                      <a:cubicBezTo>
                        <a:pt x="126" y="271"/>
                        <a:pt x="126" y="271"/>
                        <a:pt x="126" y="271"/>
                      </a:cubicBezTo>
                      <a:cubicBezTo>
                        <a:pt x="121" y="279"/>
                        <a:pt x="113" y="283"/>
                        <a:pt x="104" y="284"/>
                      </a:cubicBezTo>
                      <a:cubicBezTo>
                        <a:pt x="104" y="284"/>
                        <a:pt x="103" y="284"/>
                        <a:pt x="103" y="2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91417" tIns="45708" rIns="91417" bIns="45708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en-US" sz="2000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91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10913" y="5976"/>
                <a:ext cx="1133" cy="67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en-US" sz="28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03</a:t>
                </a:r>
                <a:endParaRPr lang="en-US" sz="28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9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>
              <p:custDataLst>
                <p:tags r:id="rId24"/>
              </p:custDataLst>
            </p:nvPr>
          </p:nvSpPr>
          <p:spPr bwMode="auto">
            <a:xfrm>
              <a:off x="12278" y="1857"/>
              <a:ext cx="2494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目录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3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6640830" y="4142105"/>
            <a:ext cx="3293745" cy="431800"/>
            <a:chOff x="1803" y="1839"/>
            <a:chExt cx="5187" cy="680"/>
          </a:xfrm>
        </p:grpSpPr>
        <p:sp>
          <p:nvSpPr>
            <p:cNvPr id="98" name="圆角矩形 97"/>
            <p:cNvSpPr/>
            <p:nvPr/>
          </p:nvSpPr>
          <p:spPr>
            <a:xfrm>
              <a:off x="1803" y="1839"/>
              <a:ext cx="5187" cy="680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>
                <a:solidFill>
                  <a:schemeClr val="bg1"/>
                </a:solidFill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1803" y="1839"/>
              <a:ext cx="680" cy="680"/>
            </a:xfrm>
            <a:prstGeom prst="rect">
              <a:avLst/>
            </a:prstGeom>
            <a:gradFill>
              <a:gsLst>
                <a:gs pos="0">
                  <a:srgbClr val="0E1A40"/>
                </a:gs>
                <a:gs pos="100000">
                  <a:srgbClr val="2F5EB0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/>
            </a:p>
          </p:txBody>
        </p:sp>
        <p:sp>
          <p:nvSpPr>
            <p:cNvPr id="100" name="文本框 9"/>
            <p:cNvSpPr txBox="1"/>
            <p:nvPr/>
          </p:nvSpPr>
          <p:spPr>
            <a:xfrm>
              <a:off x="1870" y="1896"/>
              <a:ext cx="4864" cy="588"/>
            </a:xfrm>
            <a:prstGeom prst="rect">
              <a:avLst/>
            </a:prstGeom>
            <a:noFill/>
          </p:spPr>
          <p:txBody>
            <a:bodyPr wrap="square" lIns="51422" tIns="25711" rIns="51422" bIns="25711" rtlCol="0">
              <a:spAutoFit/>
            </a:bodyPr>
            <a:p>
              <a:pPr marL="0" lvl="1" algn="l"/>
              <a:r>
                <a:rPr lang="en-US" altLang="zh-CN" sz="2100" dirty="0">
                  <a:solidFill>
                    <a:schemeClr val="bg1"/>
                  </a:solidFill>
                  <a:latin typeface="Impact MT Std" pitchFamily="34" charset="0"/>
                  <a:ea typeface="微软雅黑" panose="020B0502040204020203" pitchFamily="34" charset="-122"/>
                </a:rPr>
                <a:t>01    </a:t>
              </a:r>
              <a:r>
                <a:rPr lang="en-US" altLang="zh-CN" sz="2100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      </a:t>
              </a:r>
              <a:r>
                <a:rPr lang="zh-CN" altLang="en-US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目录</a:t>
              </a:r>
              <a:r>
                <a:rPr lang="en-US" altLang="zh-CN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6640830" y="4988560"/>
            <a:ext cx="3293745" cy="431800"/>
            <a:chOff x="1803" y="1839"/>
            <a:chExt cx="5187" cy="680"/>
          </a:xfrm>
        </p:grpSpPr>
        <p:sp>
          <p:nvSpPr>
            <p:cNvPr id="102" name="圆角矩形 101"/>
            <p:cNvSpPr/>
            <p:nvPr/>
          </p:nvSpPr>
          <p:spPr>
            <a:xfrm>
              <a:off x="1803" y="1839"/>
              <a:ext cx="5187" cy="680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>
                <a:solidFill>
                  <a:schemeClr val="bg1"/>
                </a:solidFill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1803" y="1839"/>
              <a:ext cx="680" cy="680"/>
            </a:xfrm>
            <a:prstGeom prst="rect">
              <a:avLst/>
            </a:prstGeom>
            <a:gradFill>
              <a:gsLst>
                <a:gs pos="0">
                  <a:srgbClr val="0E1A40"/>
                </a:gs>
                <a:gs pos="100000">
                  <a:srgbClr val="2F5EB0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/>
            </a:p>
          </p:txBody>
        </p:sp>
        <p:sp>
          <p:nvSpPr>
            <p:cNvPr id="104" name="文本框 9"/>
            <p:cNvSpPr txBox="1"/>
            <p:nvPr/>
          </p:nvSpPr>
          <p:spPr>
            <a:xfrm>
              <a:off x="1870" y="1896"/>
              <a:ext cx="4864" cy="588"/>
            </a:xfrm>
            <a:prstGeom prst="rect">
              <a:avLst/>
            </a:prstGeom>
            <a:noFill/>
          </p:spPr>
          <p:txBody>
            <a:bodyPr wrap="square" lIns="51422" tIns="25711" rIns="51422" bIns="25711" rtlCol="0">
              <a:spAutoFit/>
            </a:bodyPr>
            <a:p>
              <a:pPr marL="0" lvl="1" algn="l"/>
              <a:r>
                <a:rPr lang="en-US" altLang="zh-CN" sz="2100" dirty="0">
                  <a:solidFill>
                    <a:schemeClr val="bg1"/>
                  </a:solidFill>
                  <a:latin typeface="Impact MT Std" pitchFamily="34" charset="0"/>
                  <a:ea typeface="微软雅黑" panose="020B0502040204020203" pitchFamily="34" charset="-122"/>
                </a:rPr>
                <a:t>01    </a:t>
              </a:r>
              <a:r>
                <a:rPr lang="en-US" altLang="zh-CN" sz="2100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      </a:t>
              </a:r>
              <a:r>
                <a:rPr lang="zh-CN" altLang="en-US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目录</a:t>
              </a:r>
              <a:r>
                <a:rPr lang="en-US" altLang="zh-CN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6640830" y="5819775"/>
            <a:ext cx="3293745" cy="431800"/>
            <a:chOff x="1803" y="1839"/>
            <a:chExt cx="5187" cy="680"/>
          </a:xfrm>
        </p:grpSpPr>
        <p:sp>
          <p:nvSpPr>
            <p:cNvPr id="106" name="圆角矩形 105"/>
            <p:cNvSpPr/>
            <p:nvPr/>
          </p:nvSpPr>
          <p:spPr>
            <a:xfrm>
              <a:off x="1803" y="1839"/>
              <a:ext cx="5187" cy="680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>
                <a:solidFill>
                  <a:schemeClr val="bg1"/>
                </a:solidFill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1803" y="1839"/>
              <a:ext cx="680" cy="680"/>
            </a:xfrm>
            <a:prstGeom prst="rect">
              <a:avLst/>
            </a:prstGeom>
            <a:gradFill>
              <a:gsLst>
                <a:gs pos="0">
                  <a:srgbClr val="0E1A40"/>
                </a:gs>
                <a:gs pos="100000">
                  <a:srgbClr val="2F5EB0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/>
            </a:p>
          </p:txBody>
        </p:sp>
        <p:sp>
          <p:nvSpPr>
            <p:cNvPr id="108" name="文本框 9"/>
            <p:cNvSpPr txBox="1"/>
            <p:nvPr/>
          </p:nvSpPr>
          <p:spPr>
            <a:xfrm>
              <a:off x="1870" y="1896"/>
              <a:ext cx="4864" cy="588"/>
            </a:xfrm>
            <a:prstGeom prst="rect">
              <a:avLst/>
            </a:prstGeom>
            <a:noFill/>
          </p:spPr>
          <p:txBody>
            <a:bodyPr wrap="square" lIns="51422" tIns="25711" rIns="51422" bIns="25711" rtlCol="0">
              <a:spAutoFit/>
            </a:bodyPr>
            <a:p>
              <a:pPr marL="0" lvl="1" algn="l"/>
              <a:r>
                <a:rPr lang="en-US" altLang="zh-CN" sz="2100" dirty="0">
                  <a:solidFill>
                    <a:schemeClr val="bg1"/>
                  </a:solidFill>
                  <a:latin typeface="Impact MT Std" pitchFamily="34" charset="0"/>
                  <a:ea typeface="微软雅黑" panose="020B0502040204020203" pitchFamily="34" charset="-122"/>
                </a:rPr>
                <a:t>01    </a:t>
              </a:r>
              <a:r>
                <a:rPr lang="en-US" altLang="zh-CN" sz="2100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      </a:t>
              </a:r>
              <a:r>
                <a:rPr lang="zh-CN" altLang="en-US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目录</a:t>
              </a:r>
              <a:r>
                <a:rPr lang="en-US" altLang="zh-CN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 rot="0">
            <a:off x="1033145" y="1579245"/>
            <a:ext cx="2516505" cy="2517140"/>
            <a:chOff x="6712" y="404664"/>
            <a:chExt cx="6259809" cy="6259809"/>
          </a:xfrm>
        </p:grpSpPr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42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01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2717800"/>
            <a:ext cx="1981200" cy="8642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技术平台化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微服务架构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大数据治理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2054225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理解 Table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5" name="五边形 4"/>
          <p:cNvSpPr/>
          <p:nvPr/>
        </p:nvSpPr>
        <p:spPr>
          <a:xfrm>
            <a:off x="3549650" y="2494915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 rot="0">
            <a:off x="6026150" y="1569085"/>
            <a:ext cx="2516505" cy="2517140"/>
            <a:chOff x="6712" y="404664"/>
            <a:chExt cx="6259809" cy="6259809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17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02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8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2707640"/>
            <a:ext cx="1981200" cy="8642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业务流程优化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业务场景规划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数据特点分析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2044065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设计联动协议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20" name="五边形 19"/>
          <p:cNvSpPr/>
          <p:nvPr/>
        </p:nvSpPr>
        <p:spPr>
          <a:xfrm>
            <a:off x="8542655" y="2484755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 rot="0">
            <a:off x="1033145" y="3882390"/>
            <a:ext cx="2516505" cy="2517140"/>
            <a:chOff x="6712" y="404664"/>
            <a:chExt cx="6259809" cy="6259809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23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03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5020945"/>
            <a:ext cx="1981200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投研一体化平台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组合管理平台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投资决策分析平台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/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4357370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表达式引擎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27" name="五边形 26"/>
          <p:cNvSpPr/>
          <p:nvPr/>
        </p:nvSpPr>
        <p:spPr>
          <a:xfrm>
            <a:off x="3549650" y="479806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 rot="0">
            <a:off x="6026150" y="3872230"/>
            <a:ext cx="2516505" cy="2517140"/>
            <a:chOff x="6712" y="404664"/>
            <a:chExt cx="6259809" cy="6259809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33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04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5010785"/>
            <a:ext cx="1981200" cy="8642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差异化分析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个性化开发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定制化流程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4347210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实战落地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37" name="五边形 36"/>
          <p:cNvSpPr/>
          <p:nvPr/>
        </p:nvSpPr>
        <p:spPr>
          <a:xfrm>
            <a:off x="8542655" y="478790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8" name="组合 37"/>
          <p:cNvGrpSpPr/>
          <p:nvPr/>
        </p:nvGrpSpPr>
        <p:grpSpPr>
          <a:xfrm>
            <a:off x="257810" y="578485"/>
            <a:ext cx="11273790" cy="739775"/>
            <a:chOff x="385" y="958"/>
            <a:chExt cx="17754" cy="1165"/>
          </a:xfrm>
        </p:grpSpPr>
        <p:sp>
          <p:nvSpPr>
            <p:cNvPr id="3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Week2 目标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" name="íṩḷide"/>
          <p:cNvGrpSpPr/>
          <p:nvPr/>
        </p:nvGrpSpPr>
        <p:grpSpPr>
          <a:xfrm rot="0">
            <a:off x="3857625" y="3069590"/>
            <a:ext cx="4476750" cy="1619250"/>
            <a:chOff x="3868401" y="2619360"/>
            <a:chExt cx="4476949" cy="1619283"/>
          </a:xfrm>
        </p:grpSpPr>
        <p:sp>
          <p:nvSpPr>
            <p:cNvPr id="17" name="ïşlîḓé"/>
            <p:cNvSpPr/>
            <p:nvPr/>
          </p:nvSpPr>
          <p:spPr>
            <a:xfrm>
              <a:off x="6147753" y="2619360"/>
              <a:ext cx="2197597" cy="1619283"/>
            </a:xfrm>
            <a:prstGeom prst="homePlate">
              <a:avLst/>
            </a:prstGeom>
            <a:solidFill>
              <a:srgbClr val="004B9F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0">
              <a:normAutofit/>
            </a:bodyPr>
            <a:lstStyle/>
            <a:p>
              <a:pPr lvl="0" defTabSz="913765">
                <a:spcBef>
                  <a:spcPct val="0"/>
                </a:spcBef>
                <a:defRPr/>
              </a:pP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îślîḑè"/>
            <p:cNvSpPr/>
            <p:nvPr/>
          </p:nvSpPr>
          <p:spPr>
            <a:xfrm flipH="1">
              <a:off x="3868401" y="2619360"/>
              <a:ext cx="2197597" cy="1619283"/>
            </a:xfrm>
            <a:prstGeom prst="homePlat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anchor="ctr" anchorCtr="0">
              <a:normAutofit/>
            </a:bodyPr>
            <a:lstStyle/>
            <a:p>
              <a:pPr lvl="0" algn="r" defTabSz="913765">
                <a:spcBef>
                  <a:spcPct val="0"/>
                </a:spcBef>
                <a:defRPr/>
              </a:pP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330705" y="2695666"/>
            <a:ext cx="2800604" cy="2891044"/>
            <a:chOff x="1330705" y="2885531"/>
            <a:chExt cx="2800604" cy="2891044"/>
          </a:xfrm>
        </p:grpSpPr>
        <p:sp>
          <p:nvSpPr>
            <p:cNvPr id="19" name="椭圆 18"/>
            <p:cNvSpPr/>
            <p:nvPr/>
          </p:nvSpPr>
          <p:spPr>
            <a:xfrm>
              <a:off x="2158870" y="2885531"/>
              <a:ext cx="752346" cy="752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330705" y="3838535"/>
              <a:ext cx="2800604" cy="1938040"/>
              <a:chOff x="3704311" y="1674823"/>
              <a:chExt cx="2800604" cy="1938040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3704311" y="2136488"/>
                <a:ext cx="2244073" cy="1476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【常规表格】
· el-table-column 硬编码
· 业务逻辑与 UI 耦合
· 增加字段需改代码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
【配置驱动表格】
· 一份 JSON 描述列信息
· 动态解析 prop 和 label
· 自定义列通过 slot 动态注入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常规表格开发 vs 配置驱动表格</a:t>
                </a:r>
                <a:endParaRPr lang="zh-CN" altLang="en-US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8617224" y="2712059"/>
            <a:ext cx="2800604" cy="2643511"/>
            <a:chOff x="8617224" y="2901924"/>
            <a:chExt cx="2800604" cy="2643511"/>
          </a:xfrm>
        </p:grpSpPr>
        <p:sp>
          <p:nvSpPr>
            <p:cNvPr id="21" name="椭圆 20"/>
            <p:cNvSpPr/>
            <p:nvPr/>
          </p:nvSpPr>
          <p:spPr>
            <a:xfrm>
              <a:off x="9280783" y="2901924"/>
              <a:ext cx="752347" cy="752347"/>
            </a:xfrm>
            <a:prstGeom prst="ellipse">
              <a:avLst/>
            </a:prstGeom>
            <a:solidFill>
              <a:srgbClr val="004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8617224" y="3838535"/>
              <a:ext cx="2800604" cy="1706900"/>
              <a:chOff x="3704311" y="1674823"/>
              <a:chExt cx="2800604" cy="1706900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3704311" y="2136488"/>
                <a:ext cx="2244073" cy="12452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【常规表格】
· el-table-column 硬编码
· 业务逻辑与 UI 耦合
· 增加字段需改代码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常规表格开发 vs 配置驱动表格</a:t>
                </a:r>
                <a:endParaRPr lang="en-US" altLang="zh-CN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0" name="文本框 9"/>
          <p:cNvSpPr txBox="1"/>
          <p:nvPr/>
        </p:nvSpPr>
        <p:spPr>
          <a:xfrm>
            <a:off x="495490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rgbClr val="08112D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rgbClr val="08112D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3793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TableRenderer 设计思路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sp>
        <p:nvSpPr>
          <p:cNvPr id="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1022350" y="3256915"/>
            <a:ext cx="2927985" cy="2768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sz="1800" b="1" dirty="0">
                <a:solidFill>
                  <a:schemeClr val="bg1"/>
                </a:solidFill>
                <a:cs typeface="+mn-ea"/>
                <a:sym typeface="+mn-lt"/>
              </a:rPr>
              <a:t>动态列渲染</a:t>
            </a:r>
            <a:endParaRPr lang="zh-CN" altLang="es-E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688340" y="2278380"/>
            <a:ext cx="2927985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核心组件解析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9" name="五边形 8"/>
          <p:cNvSpPr/>
          <p:nvPr/>
        </p:nvSpPr>
        <p:spPr>
          <a:xfrm>
            <a:off x="688340" y="271907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shua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40" y="3264535"/>
            <a:ext cx="262255" cy="262255"/>
          </a:xfrm>
          <a:prstGeom prst="rect">
            <a:avLst/>
          </a:prstGeom>
        </p:spPr>
      </p:pic>
      <p:sp>
        <p:nvSpPr>
          <p:cNvPr id="1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48360" y="3703955"/>
            <a:ext cx="2927985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3258185" y="3264535"/>
            <a:ext cx="4393565" cy="645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&lt;el-table :data="data"&gt;
  &lt;template v-for="col in schema"&gt;
    &lt;el-table-column v-bind="col"&gt;
      &lt;template #default="{row}" v-if="col.slot"&gt;
        &lt;slot :name="col.slot" :row="row" /&gt;
      &lt;/template&gt;
    &lt;/el-table-column&gt;
  &lt;/template&gt;
&lt;/el-table&gt;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
· 遍历 schema 动态生成列
· v-bind 透传属性
· 具名插槽支持高度定制（如操作按钮）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TableRenderer 核心实现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" name="íṩḷide"/>
          <p:cNvGrpSpPr/>
          <p:nvPr/>
        </p:nvGrpSpPr>
        <p:grpSpPr>
          <a:xfrm rot="0">
            <a:off x="3857625" y="3069590"/>
            <a:ext cx="4476750" cy="1619250"/>
            <a:chOff x="3868401" y="2619360"/>
            <a:chExt cx="4476949" cy="1619283"/>
          </a:xfrm>
        </p:grpSpPr>
        <p:sp>
          <p:nvSpPr>
            <p:cNvPr id="17" name="ïşlîḓé"/>
            <p:cNvSpPr/>
            <p:nvPr/>
          </p:nvSpPr>
          <p:spPr>
            <a:xfrm>
              <a:off x="6147753" y="2619360"/>
              <a:ext cx="2197597" cy="1619283"/>
            </a:xfrm>
            <a:prstGeom prst="homePlate">
              <a:avLst/>
            </a:prstGeom>
            <a:solidFill>
              <a:srgbClr val="004B9F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0">
              <a:normAutofit/>
            </a:bodyPr>
            <a:lstStyle/>
            <a:p>
              <a:pPr lvl="0" defTabSz="913765">
                <a:spcBef>
                  <a:spcPct val="0"/>
                </a:spcBef>
                <a:defRPr/>
              </a:pP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îślîḑè"/>
            <p:cNvSpPr/>
            <p:nvPr/>
          </p:nvSpPr>
          <p:spPr>
            <a:xfrm flipH="1">
              <a:off x="3868401" y="2619360"/>
              <a:ext cx="2197597" cy="1619283"/>
            </a:xfrm>
            <a:prstGeom prst="homePlat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anchor="ctr" anchorCtr="0">
              <a:normAutofit/>
            </a:bodyPr>
            <a:lstStyle/>
            <a:p>
              <a:pPr lvl="0" algn="r" defTabSz="913765">
                <a:spcBef>
                  <a:spcPct val="0"/>
                </a:spcBef>
                <a:defRPr/>
              </a:pP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330705" y="2695666"/>
            <a:ext cx="2800604" cy="2891044"/>
            <a:chOff x="1330705" y="2885531"/>
            <a:chExt cx="2800604" cy="2891044"/>
          </a:xfrm>
        </p:grpSpPr>
        <p:sp>
          <p:nvSpPr>
            <p:cNvPr id="19" name="椭圆 18"/>
            <p:cNvSpPr/>
            <p:nvPr/>
          </p:nvSpPr>
          <p:spPr>
            <a:xfrm>
              <a:off x="2158870" y="2885531"/>
              <a:ext cx="752346" cy="752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330705" y="3838535"/>
              <a:ext cx="2800604" cy="1938040"/>
              <a:chOff x="3704311" y="1674823"/>
              <a:chExt cx="2800604" cy="1938040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3704311" y="2136488"/>
                <a:ext cx="2244073" cy="1476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【显隐联动 (Visibility)】
· 控制组件 v-if/v-show
· 协议：{ showIf: 'model.age &gt; 18' }
· 满足条件才渲染该表单项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
【值联动 (Value Linkage)】
· 当 A 改变时自动计算 B
· 协议：{ valueExpr: 'model.price * qty' }
· 实时计算响应式更新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显隐联动 vs 值联动</a:t>
                </a:r>
                <a:endParaRPr lang="zh-CN" altLang="en-US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8617224" y="2712059"/>
            <a:ext cx="2800604" cy="2643511"/>
            <a:chOff x="8617224" y="2901924"/>
            <a:chExt cx="2800604" cy="2643511"/>
          </a:xfrm>
        </p:grpSpPr>
        <p:sp>
          <p:nvSpPr>
            <p:cNvPr id="21" name="椭圆 20"/>
            <p:cNvSpPr/>
            <p:nvPr/>
          </p:nvSpPr>
          <p:spPr>
            <a:xfrm>
              <a:off x="9280783" y="2901924"/>
              <a:ext cx="752347" cy="752347"/>
            </a:xfrm>
            <a:prstGeom prst="ellipse">
              <a:avLst/>
            </a:prstGeom>
            <a:solidFill>
              <a:srgbClr val="004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8617224" y="3838535"/>
              <a:ext cx="2800604" cy="1706900"/>
              <a:chOff x="3704311" y="1674823"/>
              <a:chExt cx="2800604" cy="1706900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3704311" y="2136488"/>
                <a:ext cx="2244073" cy="12452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【显隐联动 (Visibility)】
· 控制组件 v-if/v-show
· 协议：{ showIf: 'model.age &gt; 18' }
· 满足条件才渲染该表单项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显隐联动 vs 值联动</a:t>
                </a:r>
                <a:endParaRPr lang="en-US" altLang="zh-CN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0" name="文本框 9"/>
          <p:cNvSpPr txBox="1"/>
          <p:nvPr/>
        </p:nvSpPr>
        <p:spPr>
          <a:xfrm>
            <a:off x="495490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rgbClr val="08112D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rgbClr val="08112D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3793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表单联动协议设计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9027795" y="1969770"/>
            <a:ext cx="2227580" cy="33401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4995545" y="1969135"/>
            <a:ext cx="2227580" cy="3340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1081405" y="1969135"/>
            <a:ext cx="2227580" cy="33401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407368" y="3346977"/>
            <a:ext cx="3574248" cy="2239158"/>
            <a:chOff x="839416" y="3097665"/>
            <a:chExt cx="3574248" cy="2239158"/>
          </a:xfrm>
        </p:grpSpPr>
        <p:sp>
          <p:nvSpPr>
            <p:cNvPr id="8" name="文本框 7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坑1 · XSS 风险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严禁用联动表达式执行外部不可信输入，必须限制在 model 属性范围内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322463" y="3313689"/>
            <a:ext cx="3574248" cy="2239158"/>
            <a:chOff x="839416" y="3097665"/>
            <a:chExt cx="3574248" cy="2239158"/>
          </a:xfrm>
        </p:grpSpPr>
        <p:sp>
          <p:nvSpPr>
            <p:cNvPr id="25" name="文本框 24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坑2 · 循环依赖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A 的显隐依赖 B，B 的值又依赖 A，会导致无限更新循环，需做防御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354911" y="3313689"/>
            <a:ext cx="3574248" cy="2239158"/>
            <a:chOff x="839416" y="3097665"/>
            <a:chExt cx="3574248" cy="2239158"/>
          </a:xfrm>
        </p:grpSpPr>
        <p:sp>
          <p:nvSpPr>
            <p:cNvPr id="29" name="文本框 28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坑3 · 插槽作用域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Table 的 slot 必须正确传递 row 和 index，否则外层无法获取当前行数据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避坑指南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9027795" y="1969770"/>
            <a:ext cx="2227580" cy="33401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4995545" y="1969135"/>
            <a:ext cx="2227580" cy="3340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1081405" y="1969135"/>
            <a:ext cx="2227580" cy="33401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407368" y="3346977"/>
            <a:ext cx="3574248" cy="2239158"/>
            <a:chOff x="839416" y="3097665"/>
            <a:chExt cx="3574248" cy="2239158"/>
          </a:xfrm>
        </p:grpSpPr>
        <p:sp>
          <p:nvSpPr>
            <p:cNvPr id="8" name="文本框 7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Step 1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开发 TableRenderer，实现基础配置列和操作列 slot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322463" y="3313689"/>
            <a:ext cx="3574248" cy="2239158"/>
            <a:chOff x="839416" y="3097665"/>
            <a:chExt cx="3574248" cy="2239158"/>
          </a:xfrm>
        </p:grpSpPr>
        <p:sp>
          <p:nvSpPr>
            <p:cNvPr id="25" name="文本框 24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Step 2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在 FormRenderer 中集成 evaluateExpr，实现 showIf 显隐联动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354911" y="3313689"/>
            <a:ext cx="3574248" cy="2239158"/>
            <a:chOff x="839416" y="3097665"/>
            <a:chExt cx="3574248" cy="2239158"/>
          </a:xfrm>
        </p:grpSpPr>
        <p:sp>
          <p:nvSpPr>
            <p:cNvPr id="29" name="文本框 28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Step 3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编写测试 Spec，验证表格渲染和联动表单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实战任务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sp>
        <p:nvSpPr>
          <p:cNvPr id="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1022350" y="3256915"/>
            <a:ext cx="2927985" cy="2768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sz="1800" b="1" dirty="0">
                <a:solidFill>
                  <a:schemeClr val="bg1"/>
                </a:solidFill>
                <a:cs typeface="+mn-ea"/>
                <a:sym typeface="+mn-lt"/>
              </a:rPr>
              <a:t>下周预告</a:t>
            </a:r>
            <a:endParaRPr lang="zh-CN" altLang="es-E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688340" y="2278380"/>
            <a:ext cx="2927985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本周成就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9" name="五边形 8"/>
          <p:cNvSpPr/>
          <p:nvPr/>
        </p:nvSpPr>
        <p:spPr>
          <a:xfrm>
            <a:off x="688340" y="271907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shua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40" y="3264535"/>
            <a:ext cx="262255" cy="262255"/>
          </a:xfrm>
          <a:prstGeom prst="rect">
            <a:avLst/>
          </a:prstGeom>
        </p:spPr>
      </p:pic>
      <p:sp>
        <p:nvSpPr>
          <p:cNvPr id="1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48360" y="3703955"/>
            <a:ext cx="2927985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3258185" y="3264535"/>
            <a:ext cx="4393565" cy="645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✓ TableRenderer 实现
✓ 动态列与插槽机制
✓ 联动协议设计
✓ 安全表达式引擎
✓ 循环依赖防御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
【下周预告】
· 复杂业务组件封装
· 状态管理架构优化
· 跨组件通信方案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本周能力树 · 总结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54.xml><?xml version="1.0" encoding="utf-8"?>
<p:tagLst xmlns:p="http://schemas.openxmlformats.org/presentationml/2006/main">
  <p:tag name="ISPRING_PRESENTATION_TITLE" val="未来科技风格产品项目展示介绍PPT模板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yyr4nmq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6E4E4"/>
      </a:lt2>
      <a:accent1>
        <a:srgbClr val="998C8C"/>
      </a:accent1>
      <a:accent2>
        <a:srgbClr val="646464"/>
      </a:accent2>
      <a:accent3>
        <a:srgbClr val="484545"/>
      </a:accent3>
      <a:accent4>
        <a:srgbClr val="6D615D"/>
      </a:accent4>
      <a:accent5>
        <a:srgbClr val="484545"/>
      </a:accent5>
      <a:accent6>
        <a:srgbClr val="6D615D"/>
      </a:accent6>
      <a:hlink>
        <a:srgbClr val="0563C1"/>
      </a:hlink>
      <a:folHlink>
        <a:srgbClr val="954D72"/>
      </a:folHlink>
    </a:clrScheme>
    <a:fontScheme name="agbvtnkv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4913</Words>
  <Application>WPS 演示</Application>
  <PresentationFormat>宽屏</PresentationFormat>
  <Paragraphs>453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46" baseType="lpstr">
      <vt:lpstr>Arial</vt:lpstr>
      <vt:lpstr>方正书宋_GBK</vt:lpstr>
      <vt:lpstr>Wingdings</vt:lpstr>
      <vt:lpstr>方正姚体简体</vt:lpstr>
      <vt:lpstr>苹方-简</vt:lpstr>
      <vt:lpstr>Calibri</vt:lpstr>
      <vt:lpstr>Helvetica Neue</vt:lpstr>
      <vt:lpstr>宋体</vt:lpstr>
      <vt:lpstr>汉仪书宋二KW</vt:lpstr>
      <vt:lpstr>Impact</vt:lpstr>
      <vt:lpstr>微软雅黑</vt:lpstr>
      <vt:lpstr>Microsoft YaHei Bold</vt:lpstr>
      <vt:lpstr>Arial</vt:lpstr>
      <vt:lpstr>Lato Light</vt:lpstr>
      <vt:lpstr>Open Sans</vt:lpstr>
      <vt:lpstr>Roboto Light</vt:lpstr>
      <vt:lpstr>Thonburi</vt:lpstr>
      <vt:lpstr>Microsoft YaHei</vt:lpstr>
      <vt:lpstr>宋体</vt:lpstr>
      <vt:lpstr>Arial Unicode MS</vt:lpstr>
      <vt:lpstr>汉仪旗黑-55简</vt:lpstr>
      <vt:lpstr>Impact MT Std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未来科技风格产品项目展示介绍PPT模板</dc:title>
  <dc:creator>春秋视觉工作室</dc:creator>
  <cp:lastModifiedBy>houzhongxiang</cp:lastModifiedBy>
  <cp:revision>399</cp:revision>
  <dcterms:created xsi:type="dcterms:W3CDTF">2022-06-22T02:32:39Z</dcterms:created>
  <dcterms:modified xsi:type="dcterms:W3CDTF">2022-06-22T02:32:39Z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2052-3.9.2.6301</vt:lpwstr>
  </property>
</Properties>
</file>